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 "Good evening, and thank you for having me. I'm Rehaan Ahmad Khan, presenting solo for Team Sigmoid. Our project is a probabilistic revenue and ROAS forecasting tool for e-commerce marketing. In one sentence: it reads a store's past advertising data and predicts what the ads will earn over the next one to three months - not as a single risky guess, but as a realistic range - and then explains that prediction in plain English. I'll cover the business problem, show you the working product live, then go through the model, the LLM layer, and what it would take to deploy this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"Let me start with the business problem. Every online store spends across Google, Microsoft Bing and Meta, and an agency manages that budget for them. The hard part is that the agency has to commit to a number BEFORE the budget is deployed. That's difficult for two reasons: sales move with the seasons and with customer behaviour, and the underlying data is messy and scattered, with every platform reporting differently. And most tools that exist give you one number, and never explain why performance is about to move. What's missing is decision support - here's what to expect, here's how confident we are, and here's why. That's our objective: a calibrated forecast of sales and ROAS that an agency can actually defend to a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"So let me frame precisely what we predict. Two quantities: future sales, which we call Revenue, and ad efficiency, which is ROAS - dollars back per dollar spent. Three horizons: 30, 60 and 90 days, because those are the windows a business plans on. And critically, we predict each one as a low, middle and high range rather than a single figure, because planning needs a best case and a worst case. We break it down by channel, by campaign type, and by individual campaign, so it answers WHERE the money should go. If you take one thing from this talk, take this: we forecast a range, and later I'll show you we can prove that range is honest."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"Here's the data we were given. Three files of daily advertising data, one per channel, roughly 25,500 rows in total, spanning January 2024 to June 2026. They don't match each other. Google is the biggest by far, and it stores cost in 'micros' - millionths - so every cost figure has to be divided by a million before it means anything. Bing is small but clean. And Meta is the problem: no revenue column at all, only a broad conversion count. Which brings me to the most important data decision we made."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"Meta's conversion count adds up to about 1.66 million. That is clearly not 1.66 million purchases. Now, the naive move is to multiply that count by an average order value. Do that, and you invent roughly a hundred and forty-six MILLION dollars of sales that never happened. That one mistake would swamp Google and Bing completely and make the entire forecast meaningless. So instead, we estimate Meta's revenue as its own spend times the real return rate we actually observe on Google and Bing - about four-point-seven-five times - which gives around nine hundred and thirty thousand dollars. And we label it as an estimate everywhere it appears. I'm dwelling on this because it's the slide that shows we read the data rather than just running a model on it. Now let me show you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LIVE DEMO - 4:00 - SWITCH TO THE STREAMLIT APP ===
Have https://sigmoid-forecaster.streamlit.app/ already open and loaded in a browser tab BEFORE the session starts.
1. Orient them: "This is the live tool, everything updates in real time."
2. KPIs: "Here's the 90-day forecast: about [X] in sales, with a low-high band from [low] to [high], at a blended ROAS of about [Y] times."
3. Cone: "Total sales building up over 90 days. Notice the shaded band WIDENS further out - that's honest uncertainty, not a rendering artefact."
4. Breakdown: "It splits by channel and campaign type, so an agency knows exactly where the money comes from."
5. Simulator: slide Meta up. "Watch - I increase Meta's budget. Sales rise, but look at the ROAS curve, it slowly drops. That's diminishing returns, live."
6. AI briefing: click Generate. "The model reads only these numbers and writes the explanation - what to expect, why, the risks, and what to do."
7. Meta note: "And we're transparent - it states plainly that Meta revenue is an estimate."
If the app is slow or the network drops: say "I'll show you the same views as static charts" and go straight to the next slides. Do not debug on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"Architecturally the project splits into two clean parts, and this was deliberate. Part A is the scoring engine. An automated pipeline takes our code, swaps in its own secret test data, runs ONE command with no internet access, and grades the output. If anything in Part A breaks, we score zero - so we kept it simple, fast and bullet-proof. Part B is the showcase: the dashboard, the simulator, the LLM briefing. Part B never executes inside the scored command. That means nothing in the demo I just showed you can take the scored result down with it. A lot of teams bolt their AI onto the scored path and fail the automated test - this separation is why ours doesn't."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"Under the hood there are four steps. One, tidy up: three messy files become one clean table, units get fixed, Meta's revenue gets estimated. Two, make clues - in machine learning these are called features: each campaign's recent spend, sales, trend and season, turned into numbers a model can learn from. Three, predict: the model outputs a low, middle and high sales figure for each horizon, and ROAS falls out as sales divided by spend. Four, explain: the language model reads those numbers and writes a briefing. Let me take step three properly, because that's the technical heart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"We use LightGBM - gradient boosting, fast, well proven, and strong on tabular data like this. I want to be direct about why we did NOT reach for a deep sequence model: with roughly twenty-five thousand rows across a few hundred campaigns, boosted trees are the better-suited choice, and they're far easier to defend. The important decision is that we train three models rather than one. One learns the low line, one the middle, one the high. That technique is quantile regression, and it's what lets the system output a range at all instead of a single point. One more thing: budget is one of the model's inputs. That's exactly why the simulator you just watched responds instantly, with no retraining."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"But there's a catch with quantile models, and I want to be honest about it. The raw band they produce is usually too narrow, so the truth falls outside it more often than it should. And a dishonest range is worse than no range at all, because a client plans against it. So we add a calibration step called conformal prediction. In plain terms: we test our low-to-high band against past data, and where it was too narrow, we widen it until it actually holds up. On the left you can see the raw band with the truth escaping it. On the right, after calibration, it holds. That turns the band from a guess into something with a measured guarantee - which is what I can now show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"So how accurate is it? We ran a fair test - trained on older data, then checked against newer data the model had never seen. Two results matter. First, on TOTAL sales, the number a business actually budgets against, our middle estimate was off by about eight percent on average. Our precise figure is a P50 WAPE of seven-point-eight percent. For revenue forecasting at this horizon, that's strong. Second, and I'd argue more important: our low-to-high band caught the real answer between eighty-nine and ninety-four percent of the time, against a target of eighty. So the range isn't vague hedging - it's calibrated, it clears the bar at every horizon, and it errs slightly on the safe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"This is what an agency actually receives. On the left, the headline: total predicted sales at thirty, sixty and ninety days, each with its low-to-high band. Notice again that the band widens further out - we're honestly less certain about ninety days than about thirty. On the right, the same ninety-day forecast split by channel, each with its own range, and it goes further down still, to campaign type and to individual campaign. That right-hand view is the one that answers the question an agency is actually paid to answer: where should the next dollar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"This is the simulator from the demo, summarised. As we push more budget into Meta, predicted sales keep rising - that's the easy half of the story, and it's the half most dashboards show you. But blended ROAS slowly falls. That's the classic diminishing-returns curve. Together, those two curves let an agency find the point where the next dollar of budget stops paying for itself. And it updates instantly because budget is a direct input to the model, so nothing has to be retrained between slider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"Now the LLM layer, and how it's actually integrated. Once the numbers exist, we pass them to a language model served through Groq, and it writes a short briefing in four parts: what to expect, why, the risks, and what to do next. The critical design constraint is this: it only ever explains numbers we have already computed. It is never asked to produce a figure, so it cannot invent one. That's how we keep it trustworthy. It's provider-flexible, so Groq can be swapped out without touching the forecasting code. If there's no internet or no API key, it falls back to writing a sensible briefing itself - which is precisely why the demo cannot fail on stage. And the scoring engine uses no LLM at all: the graded path stays fully deterministic."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 "Finally, production readiness - what it would take to actually deploy this. Let me split it into what already holds up, and what would still be needed. What holds up: the whole thing runs from one offline command, with pinned dependency versions and the trained model committed, so a clean clone reproduces our results exactly. It has automated pipeline tests. And we hardened it against thirty deliberately hostile inputs without a single crash. What deployment would still need, first on data: swap our Meta estimate for real Shopify or GA4 revenue, and add holiday and promotion calendars so seasonality is explicit rather than inferred. Second on operations: scheduled retraining as new data lands, monitoring of live coverage and error so we can actually see the model drifting, and serving the forecast behind an API rather than a local run. I'd rather tell you honestly what's missing than claim it's production-grade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 "Before I close, the challenges and what they taught us, because I think that's the more useful part.
Four things were genuinely hard. Meta reported no revenue at all. The three files came in three formats with three unit conventions. Our raw model band turned out to be too narrow to trust. And the scored run had to work offline, first time, on data we would never see.
And four things we took from that. First, reading the data mattered more than the model choice - the Meta decision moved our numbers far more than any hyperparameter did. Second, cleaning isn't setup work, it's where the accuracy actually came from. Third, an honest range beats a confident single number, and you have to measure that honesty rather than assume it. And fourth, keep the graded path deterministic and keep the AI outside it - that one decision is why our submission runs reliably.
Future scope is the previous slide: real revenue data instead of our Meta estimate, promotion calendars, and retraining with drift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"Let me close on reliability and then the summary. Because the judges feed in their own data, the tool has to survive whatever it's given - so we deliberately tried to break it thirty different ways: empty files, weird symbols where numbers should be, strange date formats, a missing channel, emojis in campaign names, huge and tiny numbers. All thirty were handled without a single crash. In this competition a crash is an automatic zero, so that's a real competitive advantage, not polish.
So, five reasons. One: we predict a calibrated range, not one risky number. Two: we caught and honestly fixed the Meta no-revenue trap. Three: about eight percent error on total sales, with eighty-nine to ninety-four percent coverage. Four: it passes the strict offline test, where many projects fail. Five: live budget simulation plus a grounded AI briefing. It's a useful, honest and reliable forecasting tool - not just a demo. Thank you very much; I'd be glad to take questions.
=== Q&amp;A BACK-POCKET ===
- Meta's missing revenue -&gt; spend x blended Google+Bing return rate (~4.75x), labelled as an estimate; avoids a $146M error.
- Why a range -&gt; planning needs best and worst case; a single number hides risk. Calibrated to an 80% target, measured 89-94%.
- Why LightGBM not deep learning -&gt; ~25,500 rows, tabular, few hundred campaigns; boosted trees fit the data size and are more defensible.
- Will it run on our data -&gt; one offline command, pinned versions, model committed, verified on a clean clone and 30 edge cases.
- Where does the LLM fit -&gt; explains computed numbers only, never generates figures, sits outside the scored path, has an offline fallback.
- What would you improve -&gt; real Shopify/GA4 revenue instead of the Meta estimate; holiday and promo calendars; scheduled retraining with drift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868680"/>
            <a:ext cx="7315200" cy="310896"/>
          </a:xfrm>
          <a:prstGeom prst="rect">
            <a:avLst/>
          </a:prstGeom>
          <a:noFill/>
          <a:ln/>
        </p:spPr>
        <p:txBody>
          <a:bodyPr wrap="square" lIns="0" tIns="0" rIns="0" bIns="0" rtlCol="0" anchor="ctr"/>
          <a:lstStyle/>
          <a:p>
            <a:pPr indent="0" marL="0">
              <a:buNone/>
            </a:pPr>
            <a:r>
              <a:rPr lang="en-US" sz="1250" b="1" spc="240" kern="0" dirty="0">
                <a:solidFill>
                  <a:srgbClr val="FFB224"/>
                </a:solidFill>
                <a:latin typeface="Calibri" pitchFamily="34" charset="0"/>
                <a:ea typeface="Calibri" pitchFamily="34" charset="-122"/>
                <a:cs typeface="Calibri" pitchFamily="34" charset="-120"/>
              </a:rPr>
              <a:t>AIGNITION 3.0   GRAND FINALE   |   TOP 5</a:t>
            </a:r>
            <a:endParaRPr lang="en-US" sz="1250" dirty="0"/>
          </a:p>
        </p:txBody>
      </p:sp>
      <p:sp>
        <p:nvSpPr>
          <p:cNvPr id="3" name="Text 1"/>
          <p:cNvSpPr/>
          <p:nvPr/>
        </p:nvSpPr>
        <p:spPr>
          <a:xfrm>
            <a:off x="594360" y="1325880"/>
            <a:ext cx="6766560" cy="2148840"/>
          </a:xfrm>
          <a:prstGeom prst="rect">
            <a:avLst/>
          </a:prstGeom>
          <a:noFill/>
          <a:ln/>
        </p:spPr>
        <p:txBody>
          <a:bodyPr wrap="square" lIns="0" tIns="0" rIns="0" bIns="0" rtlCol="0" anchor="t"/>
          <a:lstStyle/>
          <a:p>
            <a:pPr indent="0" marL="0">
              <a:lnSpc>
                <a:spcPts val="5600"/>
              </a:lnSpc>
              <a:buNone/>
            </a:pPr>
            <a:r>
              <a:rPr lang="en-US" sz="4600" b="1" dirty="0">
                <a:solidFill>
                  <a:srgbClr val="F4F7FC"/>
                </a:solidFill>
                <a:latin typeface="Cambria" pitchFamily="34" charset="0"/>
                <a:ea typeface="Cambria" pitchFamily="34" charset="-122"/>
                <a:cs typeface="Cambria" pitchFamily="34" charset="-120"/>
              </a:rPr>
              <a:t>Probabilistic Revenue</a:t>
            </a:r>
            <a:endParaRPr lang="en-US" sz="4600" dirty="0"/>
          </a:p>
          <a:p>
            <a:pPr indent="0" marL="0">
              <a:lnSpc>
                <a:spcPts val="5600"/>
              </a:lnSpc>
              <a:buNone/>
            </a:pPr>
            <a:r>
              <a:rPr lang="en-US" sz="4600" b="1" dirty="0">
                <a:solidFill>
                  <a:srgbClr val="F4F7FC"/>
                </a:solidFill>
                <a:latin typeface="Cambria" pitchFamily="34" charset="0"/>
                <a:ea typeface="Cambria" pitchFamily="34" charset="-122"/>
                <a:cs typeface="Cambria" pitchFamily="34" charset="-120"/>
              </a:rPr>
              <a:t>&amp; ROAS Forecasting</a:t>
            </a:r>
            <a:endParaRPr lang="en-US" sz="4600" dirty="0"/>
          </a:p>
        </p:txBody>
      </p:sp>
      <p:sp>
        <p:nvSpPr>
          <p:cNvPr id="4" name="Text 2"/>
          <p:cNvSpPr/>
          <p:nvPr/>
        </p:nvSpPr>
        <p:spPr>
          <a:xfrm>
            <a:off x="594360" y="3566160"/>
            <a:ext cx="6400800" cy="777240"/>
          </a:xfrm>
          <a:prstGeom prst="rect">
            <a:avLst/>
          </a:prstGeom>
          <a:noFill/>
          <a:ln/>
        </p:spPr>
        <p:txBody>
          <a:bodyPr wrap="square" lIns="0" tIns="0" rIns="0" bIns="0" rtlCol="0" anchor="t"/>
          <a:lstStyle/>
          <a:p>
            <a:pPr indent="0" marL="0">
              <a:lnSpc>
                <a:spcPts val="2600"/>
              </a:lnSpc>
              <a:buNone/>
            </a:pPr>
            <a:r>
              <a:rPr lang="en-US" sz="1700" dirty="0">
                <a:solidFill>
                  <a:srgbClr val="8792A8"/>
                </a:solidFill>
                <a:latin typeface="Calibri" pitchFamily="34" charset="0"/>
                <a:ea typeface="Calibri" pitchFamily="34" charset="-122"/>
                <a:cs typeface="Calibri" pitchFamily="34" charset="-120"/>
              </a:rPr>
              <a:t>We predict a realistic range, not one risky number - and we explain it in plain English.</a:t>
            </a:r>
            <a:endParaRPr lang="en-US" sz="1700" dirty="0"/>
          </a:p>
        </p:txBody>
      </p:sp>
      <p:sp>
        <p:nvSpPr>
          <p:cNvPr id="5" name="Text 3"/>
          <p:cNvSpPr/>
          <p:nvPr/>
        </p:nvSpPr>
        <p:spPr>
          <a:xfrm>
            <a:off x="594360" y="5806440"/>
            <a:ext cx="7772400" cy="365760"/>
          </a:xfrm>
          <a:prstGeom prst="rect">
            <a:avLst/>
          </a:prstGeom>
          <a:noFill/>
          <a:ln/>
        </p:spPr>
        <p:txBody>
          <a:bodyPr wrap="square" lIns="0" tIns="0" rIns="0" bIns="0" rtlCol="0" anchor="ctr"/>
          <a:lstStyle/>
          <a:p>
            <a:pPr indent="0" marL="0">
              <a:buNone/>
            </a:pPr>
            <a:r>
              <a:rPr lang="en-US" sz="1350" dirty="0">
                <a:solidFill>
                  <a:srgbClr val="6C7894"/>
                </a:solidFill>
                <a:latin typeface="Calibri" pitchFamily="34" charset="0"/>
                <a:ea typeface="Calibri" pitchFamily="34" charset="-122"/>
                <a:cs typeface="Calibri" pitchFamily="34" charset="-120"/>
              </a:rPr>
              <a:t>Team Sigmoid   |   Rehaan Ahmad Khan, solo entrant   |   JSS University, Noida</a:t>
            </a:r>
            <a:endParaRPr lang="en-US" sz="1350" dirty="0"/>
          </a:p>
        </p:txBody>
      </p:sp>
      <p:sp>
        <p:nvSpPr>
          <p:cNvPr id="6" name="Shape 4"/>
          <p:cNvSpPr/>
          <p:nvPr/>
        </p:nvSpPr>
        <p:spPr>
          <a:xfrm>
            <a:off x="7818120" y="1417320"/>
            <a:ext cx="3794760" cy="1078992"/>
          </a:xfrm>
          <a:prstGeom prst="roundRect">
            <a:avLst>
              <a:gd name="adj" fmla="val 8475"/>
            </a:avLst>
          </a:prstGeom>
          <a:solidFill>
            <a:srgbClr val="161E33"/>
          </a:solidFill>
          <a:ln w="15875">
            <a:solidFill>
              <a:srgbClr val="2C3A5C"/>
            </a:solidFill>
            <a:prstDash val="solid"/>
          </a:ln>
        </p:spPr>
      </p:sp>
      <p:sp>
        <p:nvSpPr>
          <p:cNvPr id="7" name="Text 5"/>
          <p:cNvSpPr/>
          <p:nvPr/>
        </p:nvSpPr>
        <p:spPr>
          <a:xfrm>
            <a:off x="8092440" y="1536192"/>
            <a:ext cx="3291840" cy="548640"/>
          </a:xfrm>
          <a:prstGeom prst="rect">
            <a:avLst/>
          </a:prstGeom>
          <a:noFill/>
          <a:ln/>
        </p:spPr>
        <p:txBody>
          <a:bodyPr wrap="square" lIns="0" tIns="0" rIns="0" bIns="0" rtlCol="0" anchor="ctr"/>
          <a:lstStyle/>
          <a:p>
            <a:pPr indent="0" marL="0">
              <a:buNone/>
            </a:pPr>
            <a:r>
              <a:rPr lang="en-US" sz="3000" b="1" dirty="0">
                <a:solidFill>
                  <a:srgbClr val="31D8C4"/>
                </a:solidFill>
                <a:latin typeface="Cambria" pitchFamily="34" charset="0"/>
                <a:ea typeface="Cambria" pitchFamily="34" charset="-122"/>
                <a:cs typeface="Cambria" pitchFamily="34" charset="-120"/>
              </a:rPr>
              <a:t>~8%</a:t>
            </a:r>
            <a:endParaRPr lang="en-US" sz="3000" dirty="0"/>
          </a:p>
        </p:txBody>
      </p:sp>
      <p:sp>
        <p:nvSpPr>
          <p:cNvPr id="8" name="Text 6"/>
          <p:cNvSpPr/>
          <p:nvPr/>
        </p:nvSpPr>
        <p:spPr>
          <a:xfrm>
            <a:off x="8092440" y="2066544"/>
            <a:ext cx="3291840" cy="320040"/>
          </a:xfrm>
          <a:prstGeom prst="rect">
            <a:avLst/>
          </a:prstGeom>
          <a:noFill/>
          <a:ln/>
        </p:spPr>
        <p:txBody>
          <a:bodyPr wrap="square" lIns="0" tIns="0" rIns="0" bIns="0" rtlCol="0" anchor="ctr"/>
          <a:lstStyle/>
          <a:p>
            <a:pPr indent="0" marL="0">
              <a:buNone/>
            </a:pPr>
            <a:r>
              <a:rPr lang="en-US" sz="1250" dirty="0">
                <a:solidFill>
                  <a:srgbClr val="8792A8"/>
                </a:solidFill>
                <a:latin typeface="Calibri" pitchFamily="34" charset="0"/>
                <a:ea typeface="Calibri" pitchFamily="34" charset="-122"/>
                <a:cs typeface="Calibri" pitchFamily="34" charset="-120"/>
              </a:rPr>
              <a:t>error on total sales</a:t>
            </a:r>
            <a:endParaRPr lang="en-US" sz="1250" dirty="0"/>
          </a:p>
        </p:txBody>
      </p:sp>
      <p:sp>
        <p:nvSpPr>
          <p:cNvPr id="9" name="Shape 7"/>
          <p:cNvSpPr/>
          <p:nvPr/>
        </p:nvSpPr>
        <p:spPr>
          <a:xfrm>
            <a:off x="7818120" y="2715768"/>
            <a:ext cx="3794760" cy="1078992"/>
          </a:xfrm>
          <a:prstGeom prst="roundRect">
            <a:avLst>
              <a:gd name="adj" fmla="val 8475"/>
            </a:avLst>
          </a:prstGeom>
          <a:solidFill>
            <a:srgbClr val="161E33"/>
          </a:solidFill>
          <a:ln w="15875">
            <a:solidFill>
              <a:srgbClr val="2C3A5C"/>
            </a:solidFill>
            <a:prstDash val="solid"/>
          </a:ln>
        </p:spPr>
      </p:sp>
      <p:sp>
        <p:nvSpPr>
          <p:cNvPr id="10" name="Text 8"/>
          <p:cNvSpPr/>
          <p:nvPr/>
        </p:nvSpPr>
        <p:spPr>
          <a:xfrm>
            <a:off x="8092440" y="2834640"/>
            <a:ext cx="3291840" cy="548640"/>
          </a:xfrm>
          <a:prstGeom prst="rect">
            <a:avLst/>
          </a:prstGeom>
          <a:noFill/>
          <a:ln/>
        </p:spPr>
        <p:txBody>
          <a:bodyPr wrap="square" lIns="0" tIns="0" rIns="0" bIns="0" rtlCol="0" anchor="ctr"/>
          <a:lstStyle/>
          <a:p>
            <a:pPr indent="0" marL="0">
              <a:buNone/>
            </a:pPr>
            <a:r>
              <a:rPr lang="en-US" sz="3000" b="1" dirty="0">
                <a:solidFill>
                  <a:srgbClr val="FFB224"/>
                </a:solidFill>
                <a:latin typeface="Cambria" pitchFamily="34" charset="0"/>
                <a:ea typeface="Cambria" pitchFamily="34" charset="-122"/>
                <a:cs typeface="Cambria" pitchFamily="34" charset="-120"/>
              </a:rPr>
              <a:t>89-94%</a:t>
            </a:r>
            <a:endParaRPr lang="en-US" sz="3000" dirty="0"/>
          </a:p>
        </p:txBody>
      </p:sp>
      <p:sp>
        <p:nvSpPr>
          <p:cNvPr id="11" name="Text 9"/>
          <p:cNvSpPr/>
          <p:nvPr/>
        </p:nvSpPr>
        <p:spPr>
          <a:xfrm>
            <a:off x="8092440" y="3364992"/>
            <a:ext cx="3291840" cy="320040"/>
          </a:xfrm>
          <a:prstGeom prst="rect">
            <a:avLst/>
          </a:prstGeom>
          <a:noFill/>
          <a:ln/>
        </p:spPr>
        <p:txBody>
          <a:bodyPr wrap="square" lIns="0" tIns="0" rIns="0" bIns="0" rtlCol="0" anchor="ctr"/>
          <a:lstStyle/>
          <a:p>
            <a:pPr indent="0" marL="0">
              <a:buNone/>
            </a:pPr>
            <a:r>
              <a:rPr lang="en-US" sz="1250" dirty="0">
                <a:solidFill>
                  <a:srgbClr val="8792A8"/>
                </a:solidFill>
                <a:latin typeface="Calibri" pitchFamily="34" charset="0"/>
                <a:ea typeface="Calibri" pitchFamily="34" charset="-122"/>
                <a:cs typeface="Calibri" pitchFamily="34" charset="-120"/>
              </a:rPr>
              <a:t>range coverage</a:t>
            </a:r>
            <a:endParaRPr lang="en-US" sz="1250" dirty="0"/>
          </a:p>
        </p:txBody>
      </p:sp>
      <p:sp>
        <p:nvSpPr>
          <p:cNvPr id="12" name="Shape 10"/>
          <p:cNvSpPr/>
          <p:nvPr/>
        </p:nvSpPr>
        <p:spPr>
          <a:xfrm>
            <a:off x="7818120" y="4014216"/>
            <a:ext cx="3794760" cy="1078992"/>
          </a:xfrm>
          <a:prstGeom prst="roundRect">
            <a:avLst>
              <a:gd name="adj" fmla="val 8475"/>
            </a:avLst>
          </a:prstGeom>
          <a:solidFill>
            <a:srgbClr val="161E33"/>
          </a:solidFill>
          <a:ln w="15875">
            <a:solidFill>
              <a:srgbClr val="2C3A5C"/>
            </a:solidFill>
            <a:prstDash val="solid"/>
          </a:ln>
        </p:spPr>
      </p:sp>
      <p:sp>
        <p:nvSpPr>
          <p:cNvPr id="13" name="Text 11"/>
          <p:cNvSpPr/>
          <p:nvPr/>
        </p:nvSpPr>
        <p:spPr>
          <a:xfrm>
            <a:off x="8092440" y="4133088"/>
            <a:ext cx="3291840" cy="548640"/>
          </a:xfrm>
          <a:prstGeom prst="rect">
            <a:avLst/>
          </a:prstGeom>
          <a:noFill/>
          <a:ln/>
        </p:spPr>
        <p:txBody>
          <a:bodyPr wrap="square" lIns="0" tIns="0" rIns="0" bIns="0" rtlCol="0" anchor="ctr"/>
          <a:lstStyle/>
          <a:p>
            <a:pPr indent="0" marL="0">
              <a:buNone/>
            </a:pPr>
            <a:r>
              <a:rPr lang="en-US" sz="3000" b="1" dirty="0">
                <a:solidFill>
                  <a:srgbClr val="3DD68C"/>
                </a:solidFill>
                <a:latin typeface="Cambria" pitchFamily="34" charset="0"/>
                <a:ea typeface="Cambria" pitchFamily="34" charset="-122"/>
                <a:cs typeface="Cambria" pitchFamily="34" charset="-120"/>
              </a:rPr>
              <a:t>30/30</a:t>
            </a:r>
            <a:endParaRPr lang="en-US" sz="3000" dirty="0"/>
          </a:p>
        </p:txBody>
      </p:sp>
      <p:sp>
        <p:nvSpPr>
          <p:cNvPr id="14" name="Text 12"/>
          <p:cNvSpPr/>
          <p:nvPr/>
        </p:nvSpPr>
        <p:spPr>
          <a:xfrm>
            <a:off x="8092440" y="4663440"/>
            <a:ext cx="3291840" cy="320040"/>
          </a:xfrm>
          <a:prstGeom prst="rect">
            <a:avLst/>
          </a:prstGeom>
          <a:noFill/>
          <a:ln/>
        </p:spPr>
        <p:txBody>
          <a:bodyPr wrap="square" lIns="0" tIns="0" rIns="0" bIns="0" rtlCol="0" anchor="ctr"/>
          <a:lstStyle/>
          <a:p>
            <a:pPr indent="0" marL="0">
              <a:buNone/>
            </a:pPr>
            <a:r>
              <a:rPr lang="en-US" sz="1250" dirty="0">
                <a:solidFill>
                  <a:srgbClr val="8792A8"/>
                </a:solidFill>
                <a:latin typeface="Calibri" pitchFamily="34" charset="0"/>
                <a:ea typeface="Calibri" pitchFamily="34" charset="-122"/>
                <a:cs typeface="Calibri" pitchFamily="34" charset="-120"/>
              </a:rPr>
              <a:t>edge cases passed</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FF4F87"/>
                </a:solidFill>
                <a:latin typeface="Cambria" pitchFamily="34" charset="0"/>
                <a:ea typeface="Cambria" pitchFamily="34" charset="-122"/>
                <a:cs typeface="Cambria" pitchFamily="34" charset="-120"/>
              </a:rPr>
              <a:t>01</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BUSINESS PROBLEM</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Agencies have to promise results before the money is spent</a:t>
            </a:r>
            <a:endParaRPr lang="en-US" sz="3100" dirty="0"/>
          </a:p>
        </p:txBody>
      </p:sp>
      <p:sp>
        <p:nvSpPr>
          <p:cNvPr id="5" name="Text 3"/>
          <p:cNvSpPr/>
          <p:nvPr/>
        </p:nvSpPr>
        <p:spPr>
          <a:xfrm>
            <a:off x="594360" y="1783080"/>
            <a:ext cx="6400800" cy="4114800"/>
          </a:xfrm>
          <a:prstGeom prst="rect">
            <a:avLst/>
          </a:prstGeom>
          <a:noFill/>
          <a:ln/>
        </p:spPr>
        <p:txBody>
          <a:bodyPr wrap="square" lIns="0" tIns="0" rIns="0" bIns="0" rtlCol="0" anchor="t"/>
          <a:lstStyle/>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Stores spend across Google, Bing and Meta. An agency manages that budget for them.</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The agency has to commit to a number before the budget is deployed.</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Sales move with the seasons, so last quarter is a poor guide to next quarter.</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The data is messy and scattered - every platform reports differently.</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Most tools give one number, and never explain why it will move.</a:t>
            </a:r>
            <a:endParaRPr lang="en-US" sz="1550" dirty="0"/>
          </a:p>
        </p:txBody>
      </p:sp>
      <p:sp>
        <p:nvSpPr>
          <p:cNvPr id="6" name="Shape 4"/>
          <p:cNvSpPr/>
          <p:nvPr/>
        </p:nvSpPr>
        <p:spPr>
          <a:xfrm>
            <a:off x="7406640" y="1783080"/>
            <a:ext cx="4206240" cy="1874520"/>
          </a:xfrm>
          <a:prstGeom prst="roundRect">
            <a:avLst>
              <a:gd name="adj" fmla="val 4878"/>
            </a:avLst>
          </a:prstGeom>
          <a:solidFill>
            <a:srgbClr val="161E33"/>
          </a:solidFill>
          <a:ln w="20320">
            <a:solidFill>
              <a:srgbClr val="FF4F87"/>
            </a:solidFill>
            <a:prstDash val="solid"/>
          </a:ln>
        </p:spPr>
      </p:sp>
      <p:sp>
        <p:nvSpPr>
          <p:cNvPr id="7" name="Text 5"/>
          <p:cNvSpPr/>
          <p:nvPr/>
        </p:nvSpPr>
        <p:spPr>
          <a:xfrm>
            <a:off x="7699248" y="2011680"/>
            <a:ext cx="3657600" cy="274320"/>
          </a:xfrm>
          <a:prstGeom prst="rect">
            <a:avLst/>
          </a:prstGeom>
          <a:noFill/>
          <a:ln/>
        </p:spPr>
        <p:txBody>
          <a:bodyPr wrap="square" lIns="0" tIns="0" rIns="0" bIns="0" rtlCol="0" anchor="ctr"/>
          <a:lstStyle/>
          <a:p>
            <a:pPr indent="0" marL="0">
              <a:buNone/>
            </a:pPr>
            <a:r>
              <a:rPr lang="en-US" sz="1150" b="1" spc="180" kern="0" dirty="0">
                <a:solidFill>
                  <a:srgbClr val="FF4F87"/>
                </a:solidFill>
                <a:latin typeface="Calibri" pitchFamily="34" charset="0"/>
                <a:ea typeface="Calibri" pitchFamily="34" charset="-122"/>
                <a:cs typeface="Calibri" pitchFamily="34" charset="-120"/>
              </a:rPr>
              <a:t>WHAT IS MISSING</a:t>
            </a:r>
            <a:endParaRPr lang="en-US" sz="1150" dirty="0"/>
          </a:p>
        </p:txBody>
      </p:sp>
      <p:sp>
        <p:nvSpPr>
          <p:cNvPr id="8" name="Text 6"/>
          <p:cNvSpPr/>
          <p:nvPr/>
        </p:nvSpPr>
        <p:spPr>
          <a:xfrm>
            <a:off x="7699248" y="2359152"/>
            <a:ext cx="3657600" cy="1143000"/>
          </a:xfrm>
          <a:prstGeom prst="rect">
            <a:avLst/>
          </a:prstGeom>
          <a:noFill/>
          <a:ln/>
        </p:spPr>
        <p:txBody>
          <a:bodyPr wrap="square" lIns="0" tIns="0" rIns="0" bIns="0" rtlCol="0" anchor="t"/>
          <a:lstStyle/>
          <a:p>
            <a:pPr indent="0" marL="0">
              <a:lnSpc>
                <a:spcPts val="2500"/>
              </a:lnSpc>
              <a:buNone/>
            </a:pPr>
            <a:r>
              <a:rPr lang="en-US" sz="1700" b="1" dirty="0">
                <a:solidFill>
                  <a:srgbClr val="F4F7FC"/>
                </a:solidFill>
                <a:latin typeface="Cambria" pitchFamily="34" charset="0"/>
                <a:ea typeface="Cambria" pitchFamily="34" charset="-122"/>
                <a:cs typeface="Cambria" pitchFamily="34" charset="-120"/>
              </a:rPr>
              <a:t>"Here is what to expect, here is how confident we are, and here is why."</a:t>
            </a:r>
            <a:endParaRPr lang="en-US" sz="1700" dirty="0"/>
          </a:p>
        </p:txBody>
      </p:sp>
      <p:sp>
        <p:nvSpPr>
          <p:cNvPr id="9" name="Shape 7"/>
          <p:cNvSpPr/>
          <p:nvPr/>
        </p:nvSpPr>
        <p:spPr>
          <a:xfrm>
            <a:off x="7406640" y="3886200"/>
            <a:ext cx="4206240" cy="2011680"/>
          </a:xfrm>
          <a:prstGeom prst="roundRect">
            <a:avLst>
              <a:gd name="adj" fmla="val 4545"/>
            </a:avLst>
          </a:prstGeom>
          <a:solidFill>
            <a:srgbClr val="161E33"/>
          </a:solidFill>
          <a:ln w="15875">
            <a:solidFill>
              <a:srgbClr val="2C3A5C"/>
            </a:solidFill>
            <a:prstDash val="solid"/>
          </a:ln>
        </p:spPr>
      </p:sp>
      <p:sp>
        <p:nvSpPr>
          <p:cNvPr id="10" name="Text 8"/>
          <p:cNvSpPr/>
          <p:nvPr/>
        </p:nvSpPr>
        <p:spPr>
          <a:xfrm>
            <a:off x="7699248" y="4114800"/>
            <a:ext cx="3657600" cy="274320"/>
          </a:xfrm>
          <a:prstGeom prst="rect">
            <a:avLst/>
          </a:prstGeom>
          <a:noFill/>
          <a:ln/>
        </p:spPr>
        <p:txBody>
          <a:bodyPr wrap="square" lIns="0" tIns="0" rIns="0" bIns="0" rtlCol="0" anchor="ctr"/>
          <a:lstStyle/>
          <a:p>
            <a:pPr indent="0" marL="0">
              <a:buNone/>
            </a:pPr>
            <a:r>
              <a:rPr lang="en-US" sz="1150" b="1" spc="180" kern="0" dirty="0">
                <a:solidFill>
                  <a:srgbClr val="FFB224"/>
                </a:solidFill>
                <a:latin typeface="Calibri" pitchFamily="34" charset="0"/>
                <a:ea typeface="Calibri" pitchFamily="34" charset="-122"/>
                <a:cs typeface="Calibri" pitchFamily="34" charset="-120"/>
              </a:rPr>
              <a:t>OUR OBJECTIVE</a:t>
            </a:r>
            <a:endParaRPr lang="en-US" sz="1150" dirty="0"/>
          </a:p>
        </p:txBody>
      </p:sp>
      <p:sp>
        <p:nvSpPr>
          <p:cNvPr id="11" name="Text 9"/>
          <p:cNvSpPr/>
          <p:nvPr/>
        </p:nvSpPr>
        <p:spPr>
          <a:xfrm>
            <a:off x="7699248" y="4462272"/>
            <a:ext cx="3657600" cy="1280160"/>
          </a:xfrm>
          <a:prstGeom prst="rect">
            <a:avLst/>
          </a:prstGeom>
          <a:noFill/>
          <a:ln/>
        </p:spPr>
        <p:txBody>
          <a:bodyPr wrap="square" lIns="0" tIns="0" rIns="0" bIns="0" rtlCol="0" anchor="t"/>
          <a:lstStyle/>
          <a:p>
            <a:pPr indent="0" marL="0">
              <a:lnSpc>
                <a:spcPts val="2200"/>
              </a:lnSpc>
              <a:buNone/>
            </a:pPr>
            <a:r>
              <a:rPr lang="en-US" sz="1450" dirty="0">
                <a:solidFill>
                  <a:srgbClr val="DCE3F0"/>
                </a:solidFill>
                <a:latin typeface="Calibri" pitchFamily="34" charset="0"/>
                <a:ea typeface="Calibri" pitchFamily="34" charset="-122"/>
                <a:cs typeface="Calibri" pitchFamily="34" charset="-120"/>
              </a:rPr>
              <a:t>Give an agency forward-looking decision support: a calibrated forecast of sales and ROAS it can defend to a client.</a:t>
            </a:r>
            <a:endParaRPr lang="en-US" sz="1450" dirty="0"/>
          </a:p>
        </p:txBody>
      </p:sp>
      <p:sp>
        <p:nvSpPr>
          <p:cNvPr id="12" name="Text 10"/>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2</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31D8C4"/>
                </a:solidFill>
                <a:latin typeface="Cambria" pitchFamily="34" charset="0"/>
                <a:ea typeface="Cambria" pitchFamily="34" charset="-122"/>
                <a:cs typeface="Cambria" pitchFamily="34" charset="-120"/>
              </a:rPr>
              <a:t>02</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PROBLEM FRAMING</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What exactly we set out to predict</a:t>
            </a:r>
            <a:endParaRPr lang="en-US" sz="3100" dirty="0"/>
          </a:p>
        </p:txBody>
      </p:sp>
      <p:sp>
        <p:nvSpPr>
          <p:cNvPr id="5" name="Text 3"/>
          <p:cNvSpPr/>
          <p:nvPr/>
        </p:nvSpPr>
        <p:spPr>
          <a:xfrm>
            <a:off x="594360" y="1783080"/>
            <a:ext cx="5532120" cy="4206240"/>
          </a:xfrm>
          <a:prstGeom prst="rect">
            <a:avLst/>
          </a:prstGeom>
          <a:noFill/>
          <a:ln/>
        </p:spPr>
        <p:txBody>
          <a:bodyPr wrap="square" lIns="0" tIns="0" rIns="0" bIns="0" rtlCol="0" anchor="t"/>
          <a:lstStyle/>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We predict two things: sales (Revenue) and efficiency (ROAS - dollars back per dollar spent).</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Over three horizons a business actually plans on: 30, 60 and 90 days.</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As a low, middle and high range, because planning needs a best and a worst case.</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Split by channel, campaign type and campaign, so it answers where to put the money.</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The one idea to hold on to: we forecast a range, and we can prove it is honest.</a:t>
            </a:r>
            <a:endParaRPr lang="en-US" sz="1550" dirty="0"/>
          </a:p>
        </p:txBody>
      </p:sp>
      <p:pic>
        <p:nvPicPr>
          <p:cNvPr id="6" name="Image 0" descr="v2/01_hero_range.png">    </p:cNvPr>
          <p:cNvPicPr>
            <a:picLocks noChangeAspect="1"/>
          </p:cNvPicPr>
          <p:nvPr/>
        </p:nvPicPr>
        <p:blipFill>
          <a:blip r:embed="rId1"/>
          <a:srcRect l="0" r="0" t="0" b="0"/>
          <a:stretch/>
        </p:blipFill>
        <p:spPr>
          <a:xfrm>
            <a:off x="6492240" y="1691640"/>
            <a:ext cx="5120640" cy="4297680"/>
          </a:xfrm>
          <a:prstGeom prst="rect">
            <a:avLst/>
          </a:prstGeom>
        </p:spPr>
      </p:pic>
      <p:sp>
        <p:nvSpPr>
          <p:cNvPr id="7"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3</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4D97FF"/>
                </a:solidFill>
                <a:latin typeface="Cambria" pitchFamily="34" charset="0"/>
                <a:ea typeface="Cambria" pitchFamily="34" charset="-122"/>
                <a:cs typeface="Cambria" pitchFamily="34" charset="-120"/>
              </a:rPr>
              <a:t>03</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THE DATA</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Three files, three formats, one trap</a:t>
            </a:r>
            <a:endParaRPr lang="en-US" sz="3100" dirty="0"/>
          </a:p>
        </p:txBody>
      </p:sp>
      <p:sp>
        <p:nvSpPr>
          <p:cNvPr id="5" name="Text 3"/>
          <p:cNvSpPr/>
          <p:nvPr/>
        </p:nvSpPr>
        <p:spPr>
          <a:xfrm>
            <a:off x="594360" y="1783080"/>
            <a:ext cx="5257800" cy="4206240"/>
          </a:xfrm>
          <a:prstGeom prst="rect">
            <a:avLst/>
          </a:prstGeom>
          <a:noFill/>
          <a:ln/>
        </p:spPr>
        <p:txBody>
          <a:bodyPr wrap="square" lIns="0" tIns="0" rIns="0" bIns="0" rtlCol="0" anchor="t"/>
          <a:lstStyle/>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Three files of daily ad data, one per channel, and none of them match.</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Google is the biggest, and stores cost in "micros" - divide everything by a million.</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Bing is small but clean, with usable revenue and spend.</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Meta is the problem: no revenue column at all, only a conversion count.</a:t>
            </a:r>
            <a:endParaRPr lang="en-US" sz="1550" dirty="0"/>
          </a:p>
          <a:p>
            <a:pPr marL="190500" indent="-190500">
              <a:lnSpc>
                <a:spcPts val="2400"/>
              </a:lnSpc>
              <a:spcAft>
                <a:spcPts val="1200"/>
              </a:spcAft>
              <a:buSzPct val="100000"/>
              <a:buChar char="•"/>
            </a:pPr>
            <a:r>
              <a:rPr lang="en-US" sz="1550" dirty="0">
                <a:solidFill>
                  <a:srgbClr val="DCE3F0"/>
                </a:solidFill>
                <a:latin typeface="Calibri" pitchFamily="34" charset="0"/>
                <a:ea typeface="Calibri" pitchFamily="34" charset="-122"/>
                <a:cs typeface="Calibri" pitchFamily="34" charset="-120"/>
              </a:rPr>
              <a:t>So step one of the pipeline exists purely to make these three into one clean table.</a:t>
            </a:r>
            <a:endParaRPr lang="en-US" sz="1550" dirty="0"/>
          </a:p>
        </p:txBody>
      </p:sp>
      <p:pic>
        <p:nvPicPr>
          <p:cNvPr id="6" name="Image 0" descr="v2/02_data_channels.png">    </p:cNvPr>
          <p:cNvPicPr>
            <a:picLocks noChangeAspect="1"/>
          </p:cNvPicPr>
          <p:nvPr/>
        </p:nvPicPr>
        <p:blipFill>
          <a:blip r:embed="rId1"/>
          <a:srcRect l="0" r="0" t="0" b="0"/>
          <a:stretch/>
        </p:blipFill>
        <p:spPr>
          <a:xfrm>
            <a:off x="6263640" y="1965960"/>
            <a:ext cx="5349240" cy="3566160"/>
          </a:xfrm>
          <a:prstGeom prst="rect">
            <a:avLst/>
          </a:prstGeom>
        </p:spPr>
      </p:pic>
      <p:sp>
        <p:nvSpPr>
          <p:cNvPr id="7"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4</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FF4F87"/>
                </a:solidFill>
                <a:latin typeface="Cambria" pitchFamily="34" charset="0"/>
                <a:ea typeface="Cambria" pitchFamily="34" charset="-122"/>
                <a:cs typeface="Cambria" pitchFamily="34" charset="-120"/>
              </a:rPr>
              <a:t>04</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KEY DATA DECISION</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The Meta trap, and our honest fix</a:t>
            </a:r>
            <a:endParaRPr lang="en-US" sz="3100" dirty="0"/>
          </a:p>
        </p:txBody>
      </p:sp>
      <p:pic>
        <p:nvPicPr>
          <p:cNvPr id="5" name="Image 0" descr="v2/03_meta_trap.png">    </p:cNvPr>
          <p:cNvPicPr>
            <a:picLocks noChangeAspect="1"/>
          </p:cNvPicPr>
          <p:nvPr/>
        </p:nvPicPr>
        <p:blipFill>
          <a:blip r:embed="rId1"/>
          <a:srcRect l="0" r="0" t="0" b="0"/>
          <a:stretch/>
        </p:blipFill>
        <p:spPr>
          <a:xfrm>
            <a:off x="594360" y="1783080"/>
            <a:ext cx="5394960" cy="3977640"/>
          </a:xfrm>
          <a:prstGeom prst="rect">
            <a:avLst/>
          </a:prstGeom>
        </p:spPr>
      </p:pic>
      <p:sp>
        <p:nvSpPr>
          <p:cNvPr id="6" name="Text 3"/>
          <p:cNvSpPr/>
          <p:nvPr/>
        </p:nvSpPr>
        <p:spPr>
          <a:xfrm>
            <a:off x="6309360" y="1874520"/>
            <a:ext cx="5303520" cy="3383280"/>
          </a:xfrm>
          <a:prstGeom prst="rect">
            <a:avLst/>
          </a:prstGeom>
          <a:noFill/>
          <a:ln/>
        </p:spPr>
        <p:txBody>
          <a:bodyPr wrap="square" lIns="0" tIns="0" rIns="0" bIns="0" rtlCol="0" anchor="t"/>
          <a:lstStyle/>
          <a:p>
            <a:pPr marL="190500" indent="-190500">
              <a:lnSpc>
                <a:spcPts val="2300"/>
              </a:lnSpc>
              <a:spcAft>
                <a:spcPts val="1100"/>
              </a:spcAft>
              <a:buSzPct val="100000"/>
              <a:buChar char="•"/>
            </a:pPr>
            <a:r>
              <a:rPr lang="en-US" sz="1500" dirty="0">
                <a:solidFill>
                  <a:srgbClr val="DCE3F0"/>
                </a:solidFill>
                <a:latin typeface="Calibri" pitchFamily="34" charset="0"/>
                <a:ea typeface="Calibri" pitchFamily="34" charset="-122"/>
                <a:cs typeface="Calibri" pitchFamily="34" charset="-120"/>
              </a:rPr>
              <a:t>Meta's conversion count totals about 1.66 million. Those are clearly not purchases.</a:t>
            </a:r>
            <a:endParaRPr lang="en-US" sz="1500" dirty="0"/>
          </a:p>
          <a:p>
            <a:pPr marL="190500" indent="-190500">
              <a:lnSpc>
                <a:spcPts val="2300"/>
              </a:lnSpc>
              <a:spcAft>
                <a:spcPts val="1100"/>
              </a:spcAft>
              <a:buSzPct val="100000"/>
              <a:buChar char="•"/>
            </a:pPr>
            <a:r>
              <a:rPr lang="en-US" sz="1500" dirty="0">
                <a:solidFill>
                  <a:srgbClr val="DCE3F0"/>
                </a:solidFill>
                <a:latin typeface="Calibri" pitchFamily="34" charset="0"/>
                <a:ea typeface="Calibri" pitchFamily="34" charset="-122"/>
                <a:cs typeface="Calibri" pitchFamily="34" charset="-120"/>
              </a:rPr>
              <a:t>Multiply that by an average order value and you invent roughly $146 million of sales.</a:t>
            </a:r>
            <a:endParaRPr lang="en-US" sz="1500" dirty="0"/>
          </a:p>
          <a:p>
            <a:pPr marL="190500" indent="-190500">
              <a:lnSpc>
                <a:spcPts val="2300"/>
              </a:lnSpc>
              <a:spcAft>
                <a:spcPts val="1100"/>
              </a:spcAft>
              <a:buSzPct val="100000"/>
              <a:buChar char="•"/>
            </a:pPr>
            <a:r>
              <a:rPr lang="en-US" sz="1500" dirty="0">
                <a:solidFill>
                  <a:srgbClr val="DCE3F0"/>
                </a:solidFill>
                <a:latin typeface="Calibri" pitchFamily="34" charset="0"/>
                <a:ea typeface="Calibri" pitchFamily="34" charset="-122"/>
                <a:cs typeface="Calibri" pitchFamily="34" charset="-120"/>
              </a:rPr>
              <a:t>That one mistake would swamp Google and Bing and make the forecast meaningless.</a:t>
            </a:r>
            <a:endParaRPr lang="en-US" sz="1500" dirty="0"/>
          </a:p>
          <a:p>
            <a:pPr marL="190500" indent="-190500">
              <a:lnSpc>
                <a:spcPts val="2300"/>
              </a:lnSpc>
              <a:spcAft>
                <a:spcPts val="1100"/>
              </a:spcAft>
              <a:buSzPct val="100000"/>
              <a:buChar char="•"/>
            </a:pPr>
            <a:r>
              <a:rPr lang="en-US" sz="1500" dirty="0">
                <a:solidFill>
                  <a:srgbClr val="DCE3F0"/>
                </a:solidFill>
                <a:latin typeface="Calibri" pitchFamily="34" charset="0"/>
                <a:ea typeface="Calibri" pitchFamily="34" charset="-122"/>
                <a:cs typeface="Calibri" pitchFamily="34" charset="-120"/>
              </a:rPr>
              <a:t>We instead use Meta's spend times the real return rate on Google and Bing, about 4.75x.</a:t>
            </a:r>
            <a:endParaRPr lang="en-US" sz="1500" dirty="0"/>
          </a:p>
          <a:p>
            <a:pPr marL="190500" indent="-190500">
              <a:lnSpc>
                <a:spcPts val="2300"/>
              </a:lnSpc>
              <a:spcAft>
                <a:spcPts val="1100"/>
              </a:spcAft>
              <a:buSzPct val="100000"/>
              <a:buChar char="•"/>
            </a:pPr>
            <a:r>
              <a:rPr lang="en-US" sz="1500" dirty="0">
                <a:solidFill>
                  <a:srgbClr val="DCE3F0"/>
                </a:solidFill>
                <a:latin typeface="Calibri" pitchFamily="34" charset="0"/>
                <a:ea typeface="Calibri" pitchFamily="34" charset="-122"/>
                <a:cs typeface="Calibri" pitchFamily="34" charset="-120"/>
              </a:rPr>
              <a:t>That gives around $930,000, labelled as an estimate everywhere it appears.</a:t>
            </a:r>
            <a:endParaRPr lang="en-US" sz="1500" dirty="0"/>
          </a:p>
        </p:txBody>
      </p:sp>
      <p:sp>
        <p:nvSpPr>
          <p:cNvPr id="7" name="Shape 4"/>
          <p:cNvSpPr/>
          <p:nvPr/>
        </p:nvSpPr>
        <p:spPr>
          <a:xfrm>
            <a:off x="6309360" y="5532120"/>
            <a:ext cx="5303520" cy="658368"/>
          </a:xfrm>
          <a:prstGeom prst="roundRect">
            <a:avLst>
              <a:gd name="adj" fmla="val 13889"/>
            </a:avLst>
          </a:prstGeom>
          <a:solidFill>
            <a:srgbClr val="161E33"/>
          </a:solidFill>
          <a:ln w="17780">
            <a:solidFill>
              <a:srgbClr val="FFB224"/>
            </a:solidFill>
            <a:prstDash val="solid"/>
          </a:ln>
        </p:spPr>
      </p:sp>
      <p:sp>
        <p:nvSpPr>
          <p:cNvPr id="8" name="Text 5"/>
          <p:cNvSpPr/>
          <p:nvPr/>
        </p:nvSpPr>
        <p:spPr>
          <a:xfrm>
            <a:off x="6565392" y="5532120"/>
            <a:ext cx="4846320" cy="658368"/>
          </a:xfrm>
          <a:prstGeom prst="rect">
            <a:avLst/>
          </a:prstGeom>
          <a:noFill/>
          <a:ln/>
        </p:spPr>
        <p:txBody>
          <a:bodyPr wrap="square" lIns="0" tIns="0" rIns="0" bIns="0" rtlCol="0" anchor="ctr"/>
          <a:lstStyle/>
          <a:p>
            <a:pPr indent="0" marL="0">
              <a:buNone/>
            </a:pPr>
            <a:r>
              <a:rPr lang="en-US" sz="1350" b="1" dirty="0">
                <a:solidFill>
                  <a:srgbClr val="FFB224"/>
                </a:solidFill>
                <a:latin typeface="Calibri" pitchFamily="34" charset="0"/>
                <a:ea typeface="Calibri" pitchFamily="34" charset="-122"/>
                <a:cs typeface="Calibri" pitchFamily="34" charset="-120"/>
              </a:rPr>
              <a:t>This is the slide that shows we read the data, not just ran a model.</a:t>
            </a:r>
            <a:endParaRPr lang="en-US" sz="1350" dirty="0"/>
          </a:p>
        </p:txBody>
      </p:sp>
      <p:sp>
        <p:nvSpPr>
          <p:cNvPr id="9" name="Text 6"/>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5</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1417320"/>
            <a:ext cx="6583680" cy="1737360"/>
          </a:xfrm>
          <a:prstGeom prst="rect">
            <a:avLst/>
          </a:prstGeom>
          <a:noFill/>
          <a:ln/>
        </p:spPr>
        <p:txBody>
          <a:bodyPr wrap="square" lIns="0" tIns="0" rIns="0" bIns="0" rtlCol="0" anchor="t"/>
          <a:lstStyle/>
          <a:p>
            <a:pPr indent="0" marL="0">
              <a:lnSpc>
                <a:spcPts val="6000"/>
              </a:lnSpc>
              <a:buNone/>
            </a:pPr>
            <a:r>
              <a:rPr lang="en-US" sz="5000" b="1" dirty="0">
                <a:solidFill>
                  <a:srgbClr val="F4F7FC"/>
                </a:solidFill>
                <a:latin typeface="Cambria" pitchFamily="34" charset="0"/>
                <a:ea typeface="Cambria" pitchFamily="34" charset="-122"/>
                <a:cs typeface="Cambria" pitchFamily="34" charset="-120"/>
              </a:rPr>
              <a:t>LIVE PRODUCT DEMO</a:t>
            </a:r>
            <a:endParaRPr lang="en-US" sz="5000" dirty="0"/>
          </a:p>
        </p:txBody>
      </p:sp>
      <p:sp>
        <p:nvSpPr>
          <p:cNvPr id="3" name="Text 1"/>
          <p:cNvSpPr/>
          <p:nvPr/>
        </p:nvSpPr>
        <p:spPr>
          <a:xfrm>
            <a:off x="594360" y="3246120"/>
            <a:ext cx="6035040" cy="457200"/>
          </a:xfrm>
          <a:prstGeom prst="rect">
            <a:avLst/>
          </a:prstGeom>
          <a:noFill/>
          <a:ln/>
        </p:spPr>
        <p:txBody>
          <a:bodyPr wrap="square" lIns="0" tIns="0" rIns="0" bIns="0" rtlCol="0" anchor="ctr"/>
          <a:lstStyle/>
          <a:p>
            <a:pPr indent="0" marL="0">
              <a:buNone/>
            </a:pPr>
            <a:r>
              <a:rPr lang="en-US" sz="1800" dirty="0">
                <a:solidFill>
                  <a:srgbClr val="8792A8"/>
                </a:solidFill>
                <a:latin typeface="Calibri" pitchFamily="34" charset="0"/>
                <a:ea typeface="Calibri" pitchFamily="34" charset="-122"/>
                <a:cs typeface="Calibri" pitchFamily="34" charset="-120"/>
              </a:rPr>
              <a:t>Switch to the live app and walk through it in real time.</a:t>
            </a:r>
            <a:endParaRPr lang="en-US" sz="1800" dirty="0"/>
          </a:p>
        </p:txBody>
      </p:sp>
      <p:sp>
        <p:nvSpPr>
          <p:cNvPr id="4" name="Shape 2"/>
          <p:cNvSpPr/>
          <p:nvPr/>
        </p:nvSpPr>
        <p:spPr>
          <a:xfrm>
            <a:off x="594360" y="3886200"/>
            <a:ext cx="6035040" cy="804672"/>
          </a:xfrm>
          <a:prstGeom prst="roundRect">
            <a:avLst>
              <a:gd name="adj" fmla="val 11364"/>
            </a:avLst>
          </a:prstGeom>
          <a:solidFill>
            <a:srgbClr val="161E33"/>
          </a:solidFill>
          <a:ln w="22860">
            <a:solidFill>
              <a:srgbClr val="FFB224"/>
            </a:solidFill>
            <a:prstDash val="solid"/>
          </a:ln>
        </p:spPr>
      </p:sp>
      <p:sp>
        <p:nvSpPr>
          <p:cNvPr id="5" name="Text 3"/>
          <p:cNvSpPr/>
          <p:nvPr/>
        </p:nvSpPr>
        <p:spPr>
          <a:xfrm>
            <a:off x="886968" y="3886200"/>
            <a:ext cx="5486400" cy="804672"/>
          </a:xfrm>
          <a:prstGeom prst="rect">
            <a:avLst/>
          </a:prstGeom>
          <a:noFill/>
          <a:ln/>
        </p:spPr>
        <p:txBody>
          <a:bodyPr wrap="square" lIns="0" tIns="0" rIns="0" bIns="0" rtlCol="0" anchor="ctr"/>
          <a:lstStyle/>
          <a:p>
            <a:pPr indent="0" marL="0">
              <a:buNone/>
            </a:pPr>
            <a:r>
              <a:rPr lang="en-US" sz="1850" b="1" dirty="0">
                <a:solidFill>
                  <a:srgbClr val="FFB224"/>
                </a:solidFill>
                <a:latin typeface="Calibri" pitchFamily="34" charset="0"/>
                <a:ea typeface="Calibri" pitchFamily="34" charset="-122"/>
                <a:cs typeface="Calibri" pitchFamily="34" charset="-120"/>
              </a:rPr>
              <a:t>https://sigmoid-forecaster.streamlit.app/</a:t>
            </a:r>
            <a:endParaRPr lang="en-US" sz="1850" dirty="0"/>
          </a:p>
        </p:txBody>
      </p:sp>
      <p:sp>
        <p:nvSpPr>
          <p:cNvPr id="6" name="Text 4"/>
          <p:cNvSpPr/>
          <p:nvPr/>
        </p:nvSpPr>
        <p:spPr>
          <a:xfrm>
            <a:off x="594360" y="4864608"/>
            <a:ext cx="6035040" cy="365760"/>
          </a:xfrm>
          <a:prstGeom prst="rect">
            <a:avLst/>
          </a:prstGeom>
          <a:noFill/>
          <a:ln/>
        </p:spPr>
        <p:txBody>
          <a:bodyPr wrap="square" lIns="0" tIns="0" rIns="0" bIns="0" rtlCol="0" anchor="ctr"/>
          <a:lstStyle/>
          <a:p>
            <a:pPr indent="0" marL="0">
              <a:buNone/>
            </a:pPr>
            <a:r>
              <a:rPr lang="en-US" sz="1350" dirty="0">
                <a:solidFill>
                  <a:srgbClr val="6C7894"/>
                </a:solidFill>
                <a:latin typeface="Calibri" pitchFamily="34" charset="0"/>
                <a:ea typeface="Calibri" pitchFamily="34" charset="-122"/>
                <a:cs typeface="Calibri" pitchFamily="34" charset="-120"/>
              </a:rPr>
              <a:t>Code: github.com/RAK2315/netElixir</a:t>
            </a:r>
            <a:endParaRPr lang="en-US" sz="1350" dirty="0"/>
          </a:p>
        </p:txBody>
      </p:sp>
      <p:sp>
        <p:nvSpPr>
          <p:cNvPr id="7" name="Shape 5"/>
          <p:cNvSpPr/>
          <p:nvPr/>
        </p:nvSpPr>
        <p:spPr>
          <a:xfrm>
            <a:off x="7040880" y="1234440"/>
            <a:ext cx="4572000" cy="4480560"/>
          </a:xfrm>
          <a:prstGeom prst="roundRect">
            <a:avLst>
              <a:gd name="adj" fmla="val 2041"/>
            </a:avLst>
          </a:prstGeom>
          <a:solidFill>
            <a:srgbClr val="161E33"/>
          </a:solidFill>
          <a:ln w="15875">
            <a:solidFill>
              <a:srgbClr val="2C3A5C"/>
            </a:solidFill>
            <a:prstDash val="solid"/>
          </a:ln>
        </p:spPr>
      </p:sp>
      <p:sp>
        <p:nvSpPr>
          <p:cNvPr id="8" name="Text 6"/>
          <p:cNvSpPr/>
          <p:nvPr/>
        </p:nvSpPr>
        <p:spPr>
          <a:xfrm>
            <a:off x="7333488" y="1536192"/>
            <a:ext cx="4023360" cy="292608"/>
          </a:xfrm>
          <a:prstGeom prst="rect">
            <a:avLst/>
          </a:prstGeom>
          <a:noFill/>
          <a:ln/>
        </p:spPr>
        <p:txBody>
          <a:bodyPr wrap="square" lIns="0" tIns="0" rIns="0" bIns="0" rtlCol="0" anchor="ctr"/>
          <a:lstStyle/>
          <a:p>
            <a:pPr indent="0" marL="0">
              <a:buNone/>
            </a:pPr>
            <a:r>
              <a:rPr lang="en-US" sz="1150" b="1" spc="180" kern="0" dirty="0">
                <a:solidFill>
                  <a:srgbClr val="FFB224"/>
                </a:solidFill>
                <a:latin typeface="Calibri" pitchFamily="34" charset="0"/>
                <a:ea typeface="Calibri" pitchFamily="34" charset="-122"/>
                <a:cs typeface="Calibri" pitchFamily="34" charset="-120"/>
              </a:rPr>
              <a:t>WHAT I WILL SHOW</a:t>
            </a:r>
            <a:endParaRPr lang="en-US" sz="1150" dirty="0"/>
          </a:p>
        </p:txBody>
      </p:sp>
      <p:sp>
        <p:nvSpPr>
          <p:cNvPr id="9" name="Text 7"/>
          <p:cNvSpPr/>
          <p:nvPr/>
        </p:nvSpPr>
        <p:spPr>
          <a:xfrm>
            <a:off x="7333488" y="1965960"/>
            <a:ext cx="4023360" cy="3566160"/>
          </a:xfrm>
          <a:prstGeom prst="rect">
            <a:avLst/>
          </a:prstGeom>
          <a:noFill/>
          <a:ln/>
        </p:spPr>
        <p:txBody>
          <a:bodyPr wrap="square" lIns="0" tIns="0" rIns="0" bIns="0" rtlCol="0" anchor="t"/>
          <a:lstStyle/>
          <a:p>
            <a:pPr marL="190500" indent="-190500">
              <a:lnSpc>
                <a:spcPts val="2000"/>
              </a:lnSpc>
              <a:spcAft>
                <a:spcPts val="800"/>
              </a:spcAft>
              <a:buSzPct val="100000"/>
              <a:buChar char="•"/>
            </a:pPr>
            <a:r>
              <a:rPr lang="en-US" sz="1350" dirty="0">
                <a:solidFill>
                  <a:srgbClr val="DCE3F0"/>
                </a:solidFill>
                <a:latin typeface="Calibri" pitchFamily="34" charset="0"/>
                <a:ea typeface="Calibri" pitchFamily="34" charset="-122"/>
                <a:cs typeface="Calibri" pitchFamily="34" charset="-120"/>
              </a:rPr>
              <a:t>The 90-day forecast with its low-to-high band.</a:t>
            </a:r>
            <a:endParaRPr lang="en-US" sz="1350" dirty="0"/>
          </a:p>
          <a:p>
            <a:pPr marL="190500" indent="-190500">
              <a:lnSpc>
                <a:spcPts val="2000"/>
              </a:lnSpc>
              <a:spcAft>
                <a:spcPts val="800"/>
              </a:spcAft>
              <a:buSzPct val="100000"/>
              <a:buChar char="•"/>
            </a:pPr>
            <a:r>
              <a:rPr lang="en-US" sz="1350" dirty="0">
                <a:solidFill>
                  <a:srgbClr val="DCE3F0"/>
                </a:solidFill>
                <a:latin typeface="Calibri" pitchFamily="34" charset="0"/>
                <a:ea typeface="Calibri" pitchFamily="34" charset="-122"/>
                <a:cs typeface="Calibri" pitchFamily="34" charset="-120"/>
              </a:rPr>
              <a:t>The cone widening further out.</a:t>
            </a:r>
            <a:endParaRPr lang="en-US" sz="1350" dirty="0"/>
          </a:p>
          <a:p>
            <a:pPr marL="190500" indent="-190500">
              <a:lnSpc>
                <a:spcPts val="2000"/>
              </a:lnSpc>
              <a:spcAft>
                <a:spcPts val="800"/>
              </a:spcAft>
              <a:buSzPct val="100000"/>
              <a:buChar char="•"/>
            </a:pPr>
            <a:r>
              <a:rPr lang="en-US" sz="1350" dirty="0">
                <a:solidFill>
                  <a:srgbClr val="DCE3F0"/>
                </a:solidFill>
                <a:latin typeface="Calibri" pitchFamily="34" charset="0"/>
                <a:ea typeface="Calibri" pitchFamily="34" charset="-122"/>
                <a:cs typeface="Calibri" pitchFamily="34" charset="-120"/>
              </a:rPr>
              <a:t>The breakdown by channel and campaign type.</a:t>
            </a:r>
            <a:endParaRPr lang="en-US" sz="1350" dirty="0"/>
          </a:p>
          <a:p>
            <a:pPr marL="190500" indent="-190500">
              <a:lnSpc>
                <a:spcPts val="2000"/>
              </a:lnSpc>
              <a:spcAft>
                <a:spcPts val="800"/>
              </a:spcAft>
              <a:buSzPct val="100000"/>
              <a:buChar char="•"/>
            </a:pPr>
            <a:r>
              <a:rPr lang="en-US" sz="1350" dirty="0">
                <a:solidFill>
                  <a:srgbClr val="DCE3F0"/>
                </a:solidFill>
                <a:latin typeface="Calibri" pitchFamily="34" charset="0"/>
                <a:ea typeface="Calibri" pitchFamily="34" charset="-122"/>
                <a:cs typeface="Calibri" pitchFamily="34" charset="-120"/>
              </a:rPr>
              <a:t>The simulator: Meta up, sales rise, ROAS drops.</a:t>
            </a:r>
            <a:endParaRPr lang="en-US" sz="1350" dirty="0"/>
          </a:p>
          <a:p>
            <a:pPr marL="190500" indent="-190500">
              <a:lnSpc>
                <a:spcPts val="2000"/>
              </a:lnSpc>
              <a:spcAft>
                <a:spcPts val="800"/>
              </a:spcAft>
              <a:buSzPct val="100000"/>
              <a:buChar char="•"/>
            </a:pPr>
            <a:r>
              <a:rPr lang="en-US" sz="1350" dirty="0">
                <a:solidFill>
                  <a:srgbClr val="DCE3F0"/>
                </a:solidFill>
                <a:latin typeface="Calibri" pitchFamily="34" charset="0"/>
                <a:ea typeface="Calibri" pitchFamily="34" charset="-122"/>
                <a:cs typeface="Calibri" pitchFamily="34" charset="-120"/>
              </a:rPr>
              <a:t>The AI briefing, generated live.</a:t>
            </a:r>
            <a:endParaRPr lang="en-US" sz="1350" dirty="0"/>
          </a:p>
          <a:p>
            <a:pPr marL="190500" indent="-190500">
              <a:lnSpc>
                <a:spcPts val="2000"/>
              </a:lnSpc>
              <a:spcAft>
                <a:spcPts val="800"/>
              </a:spcAft>
              <a:buSzPct val="100000"/>
              <a:buChar char="•"/>
            </a:pPr>
            <a:r>
              <a:rPr lang="en-US" sz="1350" dirty="0">
                <a:solidFill>
                  <a:srgbClr val="DCE3F0"/>
                </a:solidFill>
                <a:latin typeface="Calibri" pitchFamily="34" charset="0"/>
                <a:ea typeface="Calibri" pitchFamily="34" charset="-122"/>
                <a:cs typeface="Calibri" pitchFamily="34" charset="-120"/>
              </a:rPr>
              <a:t>The note confirming Meta revenue is an estimate.</a:t>
            </a:r>
            <a:endParaRPr lang="en-US" sz="1350" dirty="0"/>
          </a:p>
        </p:txBody>
      </p:sp>
      <p:sp>
        <p:nvSpPr>
          <p:cNvPr id="10" name="Text 8"/>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6</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9B7BFF"/>
                </a:solidFill>
                <a:latin typeface="Cambria" pitchFamily="34" charset="0"/>
                <a:ea typeface="Cambria" pitchFamily="34" charset="-122"/>
                <a:cs typeface="Cambria" pitchFamily="34" charset="-120"/>
              </a:rPr>
              <a:t>05</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ARCHITECTURE</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The project is split into two clean parts</a:t>
            </a:r>
            <a:endParaRPr lang="en-US" sz="3100" dirty="0"/>
          </a:p>
        </p:txBody>
      </p:sp>
      <p:sp>
        <p:nvSpPr>
          <p:cNvPr id="5" name="Text 3"/>
          <p:cNvSpPr/>
          <p:nvPr/>
        </p:nvSpPr>
        <p:spPr>
          <a:xfrm>
            <a:off x="594360" y="1783080"/>
            <a:ext cx="11018520" cy="1645920"/>
          </a:xfrm>
          <a:prstGeom prst="rect">
            <a:avLst/>
          </a:prstGeom>
          <a:noFill/>
          <a:ln/>
        </p:spPr>
        <p:txBody>
          <a:bodyPr wrap="square" lIns="0" tIns="0" rIns="0" bIns="0" rtlCol="0" anchor="t"/>
          <a:lstStyle/>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Part A is the scoring engine: our code, the judge's secret data, one offline command, graded automatically.</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If Part A breaks we score zero, so we kept it simple, fast and bullet-proof.</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Part B is the showcase: dashboard, simulator and LLM briefing, for humans.</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Part B never runs inside the scored command, so the demo cannot take the score down with it.</a:t>
            </a:r>
            <a:endParaRPr lang="en-US" sz="1500" dirty="0"/>
          </a:p>
        </p:txBody>
      </p:sp>
      <p:pic>
        <p:nvPicPr>
          <p:cNvPr id="6" name="Image 0" descr="v2/04_architecture.png">    </p:cNvPr>
          <p:cNvPicPr>
            <a:picLocks noChangeAspect="1"/>
          </p:cNvPicPr>
          <p:nvPr/>
        </p:nvPicPr>
        <p:blipFill>
          <a:blip r:embed="rId1"/>
          <a:srcRect l="0" r="0" t="0" b="0"/>
          <a:stretch/>
        </p:blipFill>
        <p:spPr>
          <a:xfrm>
            <a:off x="594360" y="3611880"/>
            <a:ext cx="11018520" cy="2514600"/>
          </a:xfrm>
          <a:prstGeom prst="rect">
            <a:avLst/>
          </a:prstGeom>
        </p:spPr>
      </p:pic>
      <p:sp>
        <p:nvSpPr>
          <p:cNvPr id="7"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7</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31D8C4"/>
                </a:solidFill>
                <a:latin typeface="Cambria" pitchFamily="34" charset="0"/>
                <a:ea typeface="Cambria" pitchFamily="34" charset="-122"/>
                <a:cs typeface="Cambria" pitchFamily="34" charset="-120"/>
              </a:rPr>
              <a:t>06</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THE PIPELINE</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How a single forecast is actually made</a:t>
            </a:r>
            <a:endParaRPr lang="en-US" sz="3100" dirty="0"/>
          </a:p>
        </p:txBody>
      </p:sp>
      <p:pic>
        <p:nvPicPr>
          <p:cNvPr id="5" name="Image 0" descr="v2/05_pipeline.png">    </p:cNvPr>
          <p:cNvPicPr>
            <a:picLocks noChangeAspect="1"/>
          </p:cNvPicPr>
          <p:nvPr/>
        </p:nvPicPr>
        <p:blipFill>
          <a:blip r:embed="rId1"/>
          <a:srcRect l="0" r="0" t="0" b="0"/>
          <a:stretch/>
        </p:blipFill>
        <p:spPr>
          <a:xfrm>
            <a:off x="594360" y="1691640"/>
            <a:ext cx="11018520" cy="2331720"/>
          </a:xfrm>
          <a:prstGeom prst="rect">
            <a:avLst/>
          </a:prstGeom>
        </p:spPr>
      </p:pic>
      <p:sp>
        <p:nvSpPr>
          <p:cNvPr id="6" name="Text 3"/>
          <p:cNvSpPr/>
          <p:nvPr/>
        </p:nvSpPr>
        <p:spPr>
          <a:xfrm>
            <a:off x="594360" y="4315968"/>
            <a:ext cx="11018520" cy="1828800"/>
          </a:xfrm>
          <a:prstGeom prst="rect">
            <a:avLst/>
          </a:prstGeom>
          <a:noFill/>
          <a:ln/>
        </p:spPr>
        <p:txBody>
          <a:bodyPr wrap="square" lIns="0" tIns="0" rIns="0" bIns="0" rtlCol="0" anchor="t"/>
          <a:lstStyle/>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Tidy up: three messy files become one clean table, units fixed, Meta estimated.</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Make clues: each campaign's recent spend, sales, trend and season become model features.</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Predict: the model outputs low, middle and high sales per horizon. ROAS is sales over spend.</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Explain: the language model reads those numbers and writes the briefing.</a:t>
            </a:r>
            <a:endParaRPr lang="en-US" sz="1500" dirty="0"/>
          </a:p>
        </p:txBody>
      </p:sp>
      <p:sp>
        <p:nvSpPr>
          <p:cNvPr id="7"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8</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FFB224"/>
                </a:solidFill>
                <a:latin typeface="Cambria" pitchFamily="34" charset="0"/>
                <a:ea typeface="Cambria" pitchFamily="34" charset="-122"/>
                <a:cs typeface="Cambria" pitchFamily="34" charset="-120"/>
              </a:rPr>
              <a:t>07</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MODEL CHOICES</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Why three LightGBM models, not one</a:t>
            </a:r>
            <a:endParaRPr lang="en-US" sz="3100" dirty="0"/>
          </a:p>
        </p:txBody>
      </p:sp>
      <p:sp>
        <p:nvSpPr>
          <p:cNvPr id="5" name="Text 3"/>
          <p:cNvSpPr/>
          <p:nvPr/>
        </p:nvSpPr>
        <p:spPr>
          <a:xfrm>
            <a:off x="594360" y="1783080"/>
            <a:ext cx="5486400" cy="4206240"/>
          </a:xfrm>
          <a:prstGeom prst="rect">
            <a:avLst/>
          </a:prstGeom>
          <a:noFill/>
          <a:ln/>
        </p:spPr>
        <p:txBody>
          <a:bodyPr wrap="square" lIns="0" tIns="0" rIns="0" bIns="0" rtlCol="0" anchor="t"/>
          <a:lstStyle/>
          <a:p>
            <a:pPr marL="190500" indent="-190500">
              <a:lnSpc>
                <a:spcPts val="2400"/>
              </a:lnSpc>
              <a:spcAft>
                <a:spcPts val="1200"/>
              </a:spcAft>
              <a:buSzPct val="100000"/>
              <a:buChar char="•"/>
            </a:pPr>
            <a:r>
              <a:rPr lang="en-US" sz="1500" dirty="0">
                <a:solidFill>
                  <a:srgbClr val="DCE3F0"/>
                </a:solidFill>
                <a:latin typeface="Calibri" pitchFamily="34" charset="0"/>
                <a:ea typeface="Calibri" pitchFamily="34" charset="-122"/>
                <a:cs typeface="Calibri" pitchFamily="34" charset="-120"/>
              </a:rPr>
              <a:t>LightGBM: gradient boosting, fast, well proven, and strong on tabular data.</a:t>
            </a:r>
            <a:endParaRPr lang="en-US" sz="1500" dirty="0"/>
          </a:p>
          <a:p>
            <a:pPr marL="190500" indent="-190500">
              <a:lnSpc>
                <a:spcPts val="2400"/>
              </a:lnSpc>
              <a:spcAft>
                <a:spcPts val="1200"/>
              </a:spcAft>
              <a:buSzPct val="100000"/>
              <a:buChar char="•"/>
            </a:pPr>
            <a:r>
              <a:rPr lang="en-US" sz="1500" dirty="0">
                <a:solidFill>
                  <a:srgbClr val="DCE3F0"/>
                </a:solidFill>
                <a:latin typeface="Calibri" pitchFamily="34" charset="0"/>
                <a:ea typeface="Calibri" pitchFamily="34" charset="-122"/>
                <a:cs typeface="Calibri" pitchFamily="34" charset="-120"/>
              </a:rPr>
              <a:t>We deliberately skipped a deep sequence model - at ~25,000 rows, boosted trees fit better.</a:t>
            </a:r>
            <a:endParaRPr lang="en-US" sz="1500" dirty="0"/>
          </a:p>
          <a:p>
            <a:pPr marL="190500" indent="-190500">
              <a:lnSpc>
                <a:spcPts val="2400"/>
              </a:lnSpc>
              <a:spcAft>
                <a:spcPts val="1200"/>
              </a:spcAft>
              <a:buSzPct val="100000"/>
              <a:buChar char="•"/>
            </a:pPr>
            <a:r>
              <a:rPr lang="en-US" sz="1500" dirty="0">
                <a:solidFill>
                  <a:srgbClr val="DCE3F0"/>
                </a:solidFill>
                <a:latin typeface="Calibri" pitchFamily="34" charset="0"/>
                <a:ea typeface="Calibri" pitchFamily="34" charset="-122"/>
                <a:cs typeface="Calibri" pitchFamily="34" charset="-120"/>
              </a:rPr>
              <a:t>The key decision: we train three models, not one - low line, middle line, high line.</a:t>
            </a:r>
            <a:endParaRPr lang="en-US" sz="1500" dirty="0"/>
          </a:p>
          <a:p>
            <a:pPr marL="190500" indent="-190500">
              <a:lnSpc>
                <a:spcPts val="2400"/>
              </a:lnSpc>
              <a:spcAft>
                <a:spcPts val="1200"/>
              </a:spcAft>
              <a:buSzPct val="100000"/>
              <a:buChar char="•"/>
            </a:pPr>
            <a:r>
              <a:rPr lang="en-US" sz="1500" dirty="0">
                <a:solidFill>
                  <a:srgbClr val="DCE3F0"/>
                </a:solidFill>
                <a:latin typeface="Calibri" pitchFamily="34" charset="0"/>
                <a:ea typeface="Calibri" pitchFamily="34" charset="-122"/>
                <a:cs typeface="Calibri" pitchFamily="34" charset="-120"/>
              </a:rPr>
              <a:t>That is quantile regression, and it is what lets us output a range at all.</a:t>
            </a:r>
            <a:endParaRPr lang="en-US" sz="1500" dirty="0"/>
          </a:p>
          <a:p>
            <a:pPr marL="190500" indent="-190500">
              <a:lnSpc>
                <a:spcPts val="2400"/>
              </a:lnSpc>
              <a:spcAft>
                <a:spcPts val="1200"/>
              </a:spcAft>
              <a:buSzPct val="100000"/>
              <a:buChar char="•"/>
            </a:pPr>
            <a:r>
              <a:rPr lang="en-US" sz="1500" dirty="0">
                <a:solidFill>
                  <a:srgbClr val="DCE3F0"/>
                </a:solidFill>
                <a:latin typeface="Calibri" pitchFamily="34" charset="0"/>
                <a:ea typeface="Calibri" pitchFamily="34" charset="-122"/>
                <a:cs typeface="Calibri" pitchFamily="34" charset="-120"/>
              </a:rPr>
              <a:t>Budget is a model input, which is why the simulator responds with no retraining.</a:t>
            </a:r>
            <a:endParaRPr lang="en-US" sz="1500" dirty="0"/>
          </a:p>
        </p:txBody>
      </p:sp>
      <p:pic>
        <p:nvPicPr>
          <p:cNvPr id="6" name="Image 0" descr="v2/06_quantile_model.png">    </p:cNvPr>
          <p:cNvPicPr>
            <a:picLocks noChangeAspect="1"/>
          </p:cNvPicPr>
          <p:nvPr/>
        </p:nvPicPr>
        <p:blipFill>
          <a:blip r:embed="rId1"/>
          <a:srcRect l="0" r="0" t="0" b="0"/>
          <a:stretch/>
        </p:blipFill>
        <p:spPr>
          <a:xfrm>
            <a:off x="6446520" y="1874520"/>
            <a:ext cx="5166360" cy="3931920"/>
          </a:xfrm>
          <a:prstGeom prst="rect">
            <a:avLst/>
          </a:prstGeom>
        </p:spPr>
      </p:pic>
      <p:sp>
        <p:nvSpPr>
          <p:cNvPr id="7"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9</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9B7BFF"/>
                </a:solidFill>
                <a:latin typeface="Cambria" pitchFamily="34" charset="0"/>
                <a:ea typeface="Cambria" pitchFamily="34" charset="-122"/>
                <a:cs typeface="Cambria" pitchFamily="34" charset="-120"/>
              </a:rPr>
              <a:t>08</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MODEL CHOICES</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Making the range honest, not just wide</a:t>
            </a:r>
            <a:endParaRPr lang="en-US" sz="3100" dirty="0"/>
          </a:p>
        </p:txBody>
      </p:sp>
      <p:sp>
        <p:nvSpPr>
          <p:cNvPr id="5" name="Text 3"/>
          <p:cNvSpPr/>
          <p:nvPr/>
        </p:nvSpPr>
        <p:spPr>
          <a:xfrm>
            <a:off x="594360" y="1783080"/>
            <a:ext cx="5394960" cy="4023360"/>
          </a:xfrm>
          <a:prstGeom prst="rect">
            <a:avLst/>
          </a:prstGeom>
          <a:noFill/>
          <a:ln/>
        </p:spPr>
        <p:txBody>
          <a:bodyPr wrap="square" lIns="0" tIns="0" rIns="0" bIns="0" rtlCol="0" anchor="t"/>
          <a:lstStyle/>
          <a:p>
            <a:pPr marL="190500" indent="-190500">
              <a:lnSpc>
                <a:spcPts val="2400"/>
              </a:lnSpc>
              <a:spcAft>
                <a:spcPts val="1200"/>
              </a:spcAft>
              <a:buSzPct val="100000"/>
              <a:buChar char="•"/>
            </a:pPr>
            <a:r>
              <a:rPr lang="en-US" sz="1500" dirty="0">
                <a:solidFill>
                  <a:srgbClr val="DCE3F0"/>
                </a:solidFill>
                <a:latin typeface="Calibri" pitchFamily="34" charset="0"/>
                <a:ea typeface="Calibri" pitchFamily="34" charset="-122"/>
                <a:cs typeface="Calibri" pitchFamily="34" charset="-120"/>
              </a:rPr>
              <a:t>The catch: a raw quantile band is usually too narrow, so the truth escapes it too often.</a:t>
            </a:r>
            <a:endParaRPr lang="en-US" sz="1500" dirty="0"/>
          </a:p>
          <a:p>
            <a:pPr marL="190500" indent="-190500">
              <a:lnSpc>
                <a:spcPts val="2400"/>
              </a:lnSpc>
              <a:spcAft>
                <a:spcPts val="1200"/>
              </a:spcAft>
              <a:buSzPct val="100000"/>
              <a:buChar char="•"/>
            </a:pPr>
            <a:r>
              <a:rPr lang="en-US" sz="1500" dirty="0">
                <a:solidFill>
                  <a:srgbClr val="DCE3F0"/>
                </a:solidFill>
                <a:latin typeface="Calibri" pitchFamily="34" charset="0"/>
                <a:ea typeface="Calibri" pitchFamily="34" charset="-122"/>
                <a:cs typeface="Calibri" pitchFamily="34" charset="-120"/>
              </a:rPr>
              <a:t>A dishonest range is worse than no range, because a client plans against it.</a:t>
            </a:r>
            <a:endParaRPr lang="en-US" sz="1500" dirty="0"/>
          </a:p>
          <a:p>
            <a:pPr marL="190500" indent="-190500">
              <a:lnSpc>
                <a:spcPts val="2400"/>
              </a:lnSpc>
              <a:spcAft>
                <a:spcPts val="1200"/>
              </a:spcAft>
              <a:buSzPct val="100000"/>
              <a:buChar char="•"/>
            </a:pPr>
            <a:r>
              <a:rPr lang="en-US" sz="1500" dirty="0">
                <a:solidFill>
                  <a:srgbClr val="DCE3F0"/>
                </a:solidFill>
                <a:latin typeface="Calibri" pitchFamily="34" charset="0"/>
                <a:ea typeface="Calibri" pitchFamily="34" charset="-122"/>
                <a:cs typeface="Calibri" pitchFamily="34" charset="-120"/>
              </a:rPr>
              <a:t>So we add conformal prediction: test the band on past data, widen it until it holds up.</a:t>
            </a:r>
            <a:endParaRPr lang="en-US" sz="1500" dirty="0"/>
          </a:p>
          <a:p>
            <a:pPr marL="190500" indent="-190500">
              <a:lnSpc>
                <a:spcPts val="2400"/>
              </a:lnSpc>
              <a:spcAft>
                <a:spcPts val="1200"/>
              </a:spcAft>
              <a:buSzPct val="100000"/>
              <a:buChar char="•"/>
            </a:pPr>
            <a:r>
              <a:rPr lang="en-US" sz="1500" dirty="0">
                <a:solidFill>
                  <a:srgbClr val="DCE3F0"/>
                </a:solidFill>
                <a:latin typeface="Calibri" pitchFamily="34" charset="0"/>
                <a:ea typeface="Calibri" pitchFamily="34" charset="-122"/>
                <a:cs typeface="Calibri" pitchFamily="34" charset="-120"/>
              </a:rPr>
              <a:t>That turns a guess into a measured guarantee - which the next slide shows.</a:t>
            </a:r>
            <a:endParaRPr lang="en-US" sz="1500" dirty="0"/>
          </a:p>
        </p:txBody>
      </p:sp>
      <p:pic>
        <p:nvPicPr>
          <p:cNvPr id="6" name="Image 0" descr="v2/07_conformal.png">    </p:cNvPr>
          <p:cNvPicPr>
            <a:picLocks noChangeAspect="1"/>
          </p:cNvPicPr>
          <p:nvPr/>
        </p:nvPicPr>
        <p:blipFill>
          <a:blip r:embed="rId1"/>
          <a:srcRect l="0" r="0" t="0" b="0"/>
          <a:stretch/>
        </p:blipFill>
        <p:spPr>
          <a:xfrm>
            <a:off x="6263640" y="2057400"/>
            <a:ext cx="5349240" cy="3291840"/>
          </a:xfrm>
          <a:prstGeom prst="rect">
            <a:avLst/>
          </a:prstGeom>
        </p:spPr>
      </p:pic>
      <p:sp>
        <p:nvSpPr>
          <p:cNvPr id="7"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10</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31D8C4"/>
                </a:solidFill>
                <a:latin typeface="Cambria" pitchFamily="34" charset="0"/>
                <a:ea typeface="Cambria" pitchFamily="34" charset="-122"/>
                <a:cs typeface="Cambria" pitchFamily="34" charset="-120"/>
              </a:rPr>
              <a:t>09</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RESULTS</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How accurate are we, honestly</a:t>
            </a:r>
            <a:endParaRPr lang="en-US" sz="3100" dirty="0"/>
          </a:p>
        </p:txBody>
      </p:sp>
      <p:pic>
        <p:nvPicPr>
          <p:cNvPr id="5" name="Image 0" descr="v2/08_accuracy.png">    </p:cNvPr>
          <p:cNvPicPr>
            <a:picLocks noChangeAspect="1"/>
          </p:cNvPicPr>
          <p:nvPr/>
        </p:nvPicPr>
        <p:blipFill>
          <a:blip r:embed="rId1"/>
          <a:srcRect l="0" r="0" t="0" b="0"/>
          <a:stretch/>
        </p:blipFill>
        <p:spPr>
          <a:xfrm>
            <a:off x="594360" y="1828800"/>
            <a:ext cx="5303520" cy="3840480"/>
          </a:xfrm>
          <a:prstGeom prst="rect">
            <a:avLst/>
          </a:prstGeom>
        </p:spPr>
      </p:pic>
      <p:sp>
        <p:nvSpPr>
          <p:cNvPr id="6" name="Text 3"/>
          <p:cNvSpPr/>
          <p:nvPr/>
        </p:nvSpPr>
        <p:spPr>
          <a:xfrm>
            <a:off x="6400800" y="1874520"/>
            <a:ext cx="5212080" cy="2468880"/>
          </a:xfrm>
          <a:prstGeom prst="rect">
            <a:avLst/>
          </a:prstGeom>
          <a:noFill/>
          <a:ln/>
        </p:spPr>
        <p:txBody>
          <a:bodyPr wrap="square" lIns="0" tIns="0" rIns="0" bIns="0" rtlCol="0" anchor="t"/>
          <a:lstStyle/>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A fair test: trained on older data, checked against newer data it had never seen.</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On total sales, the number a business budgets against, we were off by about 8%.</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Our band caught the real answer 89-94% of the time, against a target of 80%.</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So it is not vague hedging - it clears the bar at every horizon, slightly on the safe side.</a:t>
            </a:r>
            <a:endParaRPr lang="en-US" sz="1500" dirty="0"/>
          </a:p>
        </p:txBody>
      </p:sp>
      <p:sp>
        <p:nvSpPr>
          <p:cNvPr id="7" name="Shape 4"/>
          <p:cNvSpPr/>
          <p:nvPr/>
        </p:nvSpPr>
        <p:spPr>
          <a:xfrm>
            <a:off x="6400800" y="4526280"/>
            <a:ext cx="5212080" cy="676656"/>
          </a:xfrm>
          <a:prstGeom prst="roundRect">
            <a:avLst>
              <a:gd name="adj" fmla="val 13514"/>
            </a:avLst>
          </a:prstGeom>
          <a:solidFill>
            <a:srgbClr val="161E33"/>
          </a:solidFill>
          <a:ln w="15875">
            <a:solidFill>
              <a:srgbClr val="2C3A5C"/>
            </a:solidFill>
            <a:prstDash val="solid"/>
          </a:ln>
        </p:spPr>
      </p:sp>
      <p:sp>
        <p:nvSpPr>
          <p:cNvPr id="8" name="Text 5"/>
          <p:cNvSpPr/>
          <p:nvPr/>
        </p:nvSpPr>
        <p:spPr>
          <a:xfrm>
            <a:off x="6656832" y="4526280"/>
            <a:ext cx="1417320" cy="676656"/>
          </a:xfrm>
          <a:prstGeom prst="rect">
            <a:avLst/>
          </a:prstGeom>
          <a:noFill/>
          <a:ln/>
        </p:spPr>
        <p:txBody>
          <a:bodyPr wrap="square" lIns="0" tIns="0" rIns="0" bIns="0" rtlCol="0" anchor="ctr"/>
          <a:lstStyle/>
          <a:p>
            <a:pPr indent="0" marL="0">
              <a:buNone/>
            </a:pPr>
            <a:r>
              <a:rPr lang="en-US" sz="2200" b="1" dirty="0">
                <a:solidFill>
                  <a:srgbClr val="31D8C4"/>
                </a:solidFill>
                <a:latin typeface="Cambria" pitchFamily="34" charset="0"/>
                <a:ea typeface="Cambria" pitchFamily="34" charset="-122"/>
                <a:cs typeface="Cambria" pitchFamily="34" charset="-120"/>
              </a:rPr>
              <a:t>~8%</a:t>
            </a:r>
            <a:endParaRPr lang="en-US" sz="2200" dirty="0"/>
          </a:p>
        </p:txBody>
      </p:sp>
      <p:sp>
        <p:nvSpPr>
          <p:cNvPr id="9" name="Text 6"/>
          <p:cNvSpPr/>
          <p:nvPr/>
        </p:nvSpPr>
        <p:spPr>
          <a:xfrm>
            <a:off x="8092440" y="4526280"/>
            <a:ext cx="3291840" cy="676656"/>
          </a:xfrm>
          <a:prstGeom prst="rect">
            <a:avLst/>
          </a:prstGeom>
          <a:noFill/>
          <a:ln/>
        </p:spPr>
        <p:txBody>
          <a:bodyPr wrap="square" lIns="0" tIns="0" rIns="0" bIns="0" rtlCol="0" anchor="ctr"/>
          <a:lstStyle/>
          <a:p>
            <a:pPr indent="0" marL="0">
              <a:buNone/>
            </a:pPr>
            <a:r>
              <a:rPr lang="en-US" sz="1250" dirty="0">
                <a:solidFill>
                  <a:srgbClr val="8792A8"/>
                </a:solidFill>
                <a:latin typeface="Calibri" pitchFamily="34" charset="0"/>
                <a:ea typeface="Calibri" pitchFamily="34" charset="-122"/>
                <a:cs typeface="Calibri" pitchFamily="34" charset="-120"/>
              </a:rPr>
              <a:t>average error on total sales (P50 WAPE 7.8%)</a:t>
            </a:r>
            <a:endParaRPr lang="en-US" sz="1250" dirty="0"/>
          </a:p>
        </p:txBody>
      </p:sp>
      <p:sp>
        <p:nvSpPr>
          <p:cNvPr id="10" name="Shape 7"/>
          <p:cNvSpPr/>
          <p:nvPr/>
        </p:nvSpPr>
        <p:spPr>
          <a:xfrm>
            <a:off x="6400800" y="5312664"/>
            <a:ext cx="5212080" cy="676656"/>
          </a:xfrm>
          <a:prstGeom prst="roundRect">
            <a:avLst>
              <a:gd name="adj" fmla="val 13514"/>
            </a:avLst>
          </a:prstGeom>
          <a:solidFill>
            <a:srgbClr val="161E33"/>
          </a:solidFill>
          <a:ln w="15875">
            <a:solidFill>
              <a:srgbClr val="2C3A5C"/>
            </a:solidFill>
            <a:prstDash val="solid"/>
          </a:ln>
        </p:spPr>
      </p:sp>
      <p:sp>
        <p:nvSpPr>
          <p:cNvPr id="11" name="Text 8"/>
          <p:cNvSpPr/>
          <p:nvPr/>
        </p:nvSpPr>
        <p:spPr>
          <a:xfrm>
            <a:off x="6656832" y="5312664"/>
            <a:ext cx="1417320" cy="676656"/>
          </a:xfrm>
          <a:prstGeom prst="rect">
            <a:avLst/>
          </a:prstGeom>
          <a:noFill/>
          <a:ln/>
        </p:spPr>
        <p:txBody>
          <a:bodyPr wrap="square" lIns="0" tIns="0" rIns="0" bIns="0" rtlCol="0" anchor="ctr"/>
          <a:lstStyle/>
          <a:p>
            <a:pPr indent="0" marL="0">
              <a:buNone/>
            </a:pPr>
            <a:r>
              <a:rPr lang="en-US" sz="2200" b="1" dirty="0">
                <a:solidFill>
                  <a:srgbClr val="FFB224"/>
                </a:solidFill>
                <a:latin typeface="Cambria" pitchFamily="34" charset="0"/>
                <a:ea typeface="Cambria" pitchFamily="34" charset="-122"/>
                <a:cs typeface="Cambria" pitchFamily="34" charset="-120"/>
              </a:rPr>
              <a:t>89-94%</a:t>
            </a:r>
            <a:endParaRPr lang="en-US" sz="2200" dirty="0"/>
          </a:p>
        </p:txBody>
      </p:sp>
      <p:sp>
        <p:nvSpPr>
          <p:cNvPr id="12" name="Text 9"/>
          <p:cNvSpPr/>
          <p:nvPr/>
        </p:nvSpPr>
        <p:spPr>
          <a:xfrm>
            <a:off x="8092440" y="5312664"/>
            <a:ext cx="3291840" cy="676656"/>
          </a:xfrm>
          <a:prstGeom prst="rect">
            <a:avLst/>
          </a:prstGeom>
          <a:noFill/>
          <a:ln/>
        </p:spPr>
        <p:txBody>
          <a:bodyPr wrap="square" lIns="0" tIns="0" rIns="0" bIns="0" rtlCol="0" anchor="ctr"/>
          <a:lstStyle/>
          <a:p>
            <a:pPr indent="0" marL="0">
              <a:buNone/>
            </a:pPr>
            <a:r>
              <a:rPr lang="en-US" sz="1250" dirty="0">
                <a:solidFill>
                  <a:srgbClr val="8792A8"/>
                </a:solidFill>
                <a:latin typeface="Calibri" pitchFamily="34" charset="0"/>
                <a:ea typeface="Calibri" pitchFamily="34" charset="-122"/>
                <a:cs typeface="Calibri" pitchFamily="34" charset="-120"/>
              </a:rPr>
              <a:t>coverage against an 80% goal</a:t>
            </a:r>
            <a:endParaRPr lang="en-US" sz="1250" dirty="0"/>
          </a:p>
        </p:txBody>
      </p:sp>
      <p:sp>
        <p:nvSpPr>
          <p:cNvPr id="13" name="Text 10"/>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11</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FFB224"/>
                </a:solidFill>
                <a:latin typeface="Cambria" pitchFamily="34" charset="0"/>
                <a:ea typeface="Cambria" pitchFamily="34" charset="-122"/>
                <a:cs typeface="Cambria" pitchFamily="34" charset="-120"/>
              </a:rPr>
              <a:t>10</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RESULTS</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The output an agency actually receives</a:t>
            </a:r>
            <a:endParaRPr lang="en-US" sz="3100" dirty="0"/>
          </a:p>
        </p:txBody>
      </p:sp>
      <p:sp>
        <p:nvSpPr>
          <p:cNvPr id="5" name="Text 3"/>
          <p:cNvSpPr/>
          <p:nvPr/>
        </p:nvSpPr>
        <p:spPr>
          <a:xfrm>
            <a:off x="594360" y="1783080"/>
            <a:ext cx="11018520" cy="1371600"/>
          </a:xfrm>
          <a:prstGeom prst="rect">
            <a:avLst/>
          </a:prstGeom>
          <a:noFill/>
          <a:ln/>
        </p:spPr>
        <p:txBody>
          <a:bodyPr wrap="square" lIns="0" tIns="0" rIns="0" bIns="0" rtlCol="0" anchor="t"/>
          <a:lstStyle/>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Left: total predicted sales at 30, 60 and 90 days, each with its band. It widens further out.</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Right: the same 90-day forecast split by channel, and it goes down to individual campaign.</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That second view answers the question an agency is paid to answer - where does the next dollar go.</a:t>
            </a:r>
            <a:endParaRPr lang="en-US" sz="1500" dirty="0"/>
          </a:p>
        </p:txBody>
      </p:sp>
      <p:pic>
        <p:nvPicPr>
          <p:cNvPr id="6" name="Image 0" descr="v2/09_total.png">    </p:cNvPr>
          <p:cNvPicPr>
            <a:picLocks noChangeAspect="1"/>
          </p:cNvPicPr>
          <p:nvPr/>
        </p:nvPicPr>
        <p:blipFill>
          <a:blip r:embed="rId1"/>
          <a:srcRect l="0" r="0" t="0" b="0"/>
          <a:stretch/>
        </p:blipFill>
        <p:spPr>
          <a:xfrm>
            <a:off x="594360" y="3246120"/>
            <a:ext cx="5349240" cy="2880360"/>
          </a:xfrm>
          <a:prstGeom prst="rect">
            <a:avLst/>
          </a:prstGeom>
        </p:spPr>
      </p:pic>
      <p:pic>
        <p:nvPicPr>
          <p:cNvPr id="7" name="Image 1" descr="v2/10_channel.png">    </p:cNvPr>
          <p:cNvPicPr>
            <a:picLocks noChangeAspect="1"/>
          </p:cNvPicPr>
          <p:nvPr/>
        </p:nvPicPr>
        <p:blipFill>
          <a:blip r:embed="rId2"/>
          <a:srcRect l="0" r="0" t="0" b="0"/>
          <a:stretch/>
        </p:blipFill>
        <p:spPr>
          <a:xfrm>
            <a:off x="6263640" y="3246120"/>
            <a:ext cx="5349240" cy="2880360"/>
          </a:xfrm>
          <a:prstGeom prst="rect">
            <a:avLst/>
          </a:prstGeom>
        </p:spPr>
      </p:pic>
      <p:sp>
        <p:nvSpPr>
          <p:cNvPr id="8"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12</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31D8C4"/>
                </a:solidFill>
                <a:latin typeface="Cambria" pitchFamily="34" charset="0"/>
                <a:ea typeface="Cambria" pitchFamily="34" charset="-122"/>
                <a:cs typeface="Cambria" pitchFamily="34" charset="-120"/>
              </a:rPr>
              <a:t>11</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DECISION SUPPORT</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The budget simulator, and diminishing returns</a:t>
            </a:r>
            <a:endParaRPr lang="en-US" sz="3100" dirty="0"/>
          </a:p>
        </p:txBody>
      </p:sp>
      <p:pic>
        <p:nvPicPr>
          <p:cNvPr id="5" name="Image 0" descr="v2/11_budget.png">    </p:cNvPr>
          <p:cNvPicPr>
            <a:picLocks noChangeAspect="1"/>
          </p:cNvPicPr>
          <p:nvPr/>
        </p:nvPicPr>
        <p:blipFill>
          <a:blip r:embed="rId1"/>
          <a:srcRect l="0" r="0" t="0" b="0"/>
          <a:stretch/>
        </p:blipFill>
        <p:spPr>
          <a:xfrm>
            <a:off x="594360" y="1664208"/>
            <a:ext cx="11018520" cy="2606040"/>
          </a:xfrm>
          <a:prstGeom prst="rect">
            <a:avLst/>
          </a:prstGeom>
        </p:spPr>
      </p:pic>
      <p:sp>
        <p:nvSpPr>
          <p:cNvPr id="6" name="Text 3"/>
          <p:cNvSpPr/>
          <p:nvPr/>
        </p:nvSpPr>
        <p:spPr>
          <a:xfrm>
            <a:off x="594360" y="4526280"/>
            <a:ext cx="11018520" cy="1737360"/>
          </a:xfrm>
          <a:prstGeom prst="rect">
            <a:avLst/>
          </a:prstGeom>
          <a:noFill/>
          <a:ln/>
        </p:spPr>
        <p:txBody>
          <a:bodyPr wrap="square" lIns="0" tIns="0" rIns="0" bIns="0" rtlCol="0" anchor="t"/>
          <a:lstStyle/>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Push more budget into Meta and predicted sales keep rising - the easy half of the story.</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But blended ROAS slowly falls. That is diminishing returns, and most dashboards hide it.</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Together they show where the next dollar of budget stops paying for itself.</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It updates instantly because budget is a direct model input - no retraining.</a:t>
            </a:r>
            <a:endParaRPr lang="en-US" sz="1500" dirty="0"/>
          </a:p>
        </p:txBody>
      </p:sp>
      <p:sp>
        <p:nvSpPr>
          <p:cNvPr id="7"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13</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FF4F87"/>
                </a:solidFill>
                <a:latin typeface="Cambria" pitchFamily="34" charset="0"/>
                <a:ea typeface="Cambria" pitchFamily="34" charset="-122"/>
                <a:cs typeface="Cambria" pitchFamily="34" charset="-120"/>
              </a:rPr>
              <a:t>12</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THE LLM LAYER</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How the language model is integrated</a:t>
            </a:r>
            <a:endParaRPr lang="en-US" sz="3100" dirty="0"/>
          </a:p>
        </p:txBody>
      </p:sp>
      <p:sp>
        <p:nvSpPr>
          <p:cNvPr id="5" name="Text 3"/>
          <p:cNvSpPr/>
          <p:nvPr/>
        </p:nvSpPr>
        <p:spPr>
          <a:xfrm>
            <a:off x="594360" y="1874520"/>
            <a:ext cx="5486400" cy="4023360"/>
          </a:xfrm>
          <a:prstGeom prst="rect">
            <a:avLst/>
          </a:prstGeom>
          <a:noFill/>
          <a:ln/>
        </p:spPr>
        <p:txBody>
          <a:bodyPr wrap="square" lIns="0" tIns="0" rIns="0" bIns="0" rtlCol="0" anchor="t"/>
          <a:lstStyle/>
          <a:p>
            <a:pPr marL="190500" indent="-190500">
              <a:lnSpc>
                <a:spcPts val="2400"/>
              </a:lnSpc>
              <a:spcAft>
                <a:spcPts val="1300"/>
              </a:spcAft>
              <a:buSzPct val="100000"/>
              <a:buChar char="•"/>
            </a:pPr>
            <a:r>
              <a:rPr lang="en-US" sz="1550" dirty="0">
                <a:solidFill>
                  <a:srgbClr val="DCE3F0"/>
                </a:solidFill>
                <a:latin typeface="Calibri" pitchFamily="34" charset="0"/>
                <a:ea typeface="Calibri" pitchFamily="34" charset="-122"/>
                <a:cs typeface="Calibri" pitchFamily="34" charset="-120"/>
              </a:rPr>
              <a:t>Once the numbers exist, a model served through Groq writes a four-part briefing.</a:t>
            </a:r>
            <a:endParaRPr lang="en-US" sz="1550" dirty="0"/>
          </a:p>
          <a:p>
            <a:pPr marL="190500" indent="-190500">
              <a:lnSpc>
                <a:spcPts val="2400"/>
              </a:lnSpc>
              <a:spcAft>
                <a:spcPts val="1300"/>
              </a:spcAft>
              <a:buSzPct val="100000"/>
              <a:buChar char="•"/>
            </a:pPr>
            <a:r>
              <a:rPr lang="en-US" sz="1550" dirty="0">
                <a:solidFill>
                  <a:srgbClr val="DCE3F0"/>
                </a:solidFill>
                <a:latin typeface="Calibri" pitchFamily="34" charset="0"/>
                <a:ea typeface="Calibri" pitchFamily="34" charset="-122"/>
                <a:cs typeface="Calibri" pitchFamily="34" charset="-120"/>
              </a:rPr>
              <a:t>The critical constraint: it only explains numbers we computed. It is never asked for a figure.</a:t>
            </a:r>
            <a:endParaRPr lang="en-US" sz="1550" dirty="0"/>
          </a:p>
          <a:p>
            <a:pPr marL="190500" indent="-190500">
              <a:lnSpc>
                <a:spcPts val="2400"/>
              </a:lnSpc>
              <a:spcAft>
                <a:spcPts val="1300"/>
              </a:spcAft>
              <a:buSzPct val="100000"/>
              <a:buChar char="•"/>
            </a:pPr>
            <a:r>
              <a:rPr lang="en-US" sz="1550" dirty="0">
                <a:solidFill>
                  <a:srgbClr val="DCE3F0"/>
                </a:solidFill>
                <a:latin typeface="Calibri" pitchFamily="34" charset="0"/>
                <a:ea typeface="Calibri" pitchFamily="34" charset="-122"/>
                <a:cs typeface="Calibri" pitchFamily="34" charset="-120"/>
              </a:rPr>
              <a:t>Provider-flexible - Groq can be swapped without touching the forecasting code.</a:t>
            </a:r>
            <a:endParaRPr lang="en-US" sz="1550" dirty="0"/>
          </a:p>
          <a:p>
            <a:pPr marL="190500" indent="-190500">
              <a:lnSpc>
                <a:spcPts val="2400"/>
              </a:lnSpc>
              <a:spcAft>
                <a:spcPts val="1300"/>
              </a:spcAft>
              <a:buSzPct val="100000"/>
              <a:buChar char="•"/>
            </a:pPr>
            <a:r>
              <a:rPr lang="en-US" sz="1550" dirty="0">
                <a:solidFill>
                  <a:srgbClr val="DCE3F0"/>
                </a:solidFill>
                <a:latin typeface="Calibri" pitchFamily="34" charset="0"/>
                <a:ea typeface="Calibri" pitchFamily="34" charset="-122"/>
                <a:cs typeface="Calibri" pitchFamily="34" charset="-120"/>
              </a:rPr>
              <a:t>With no internet or key, it writes a sensible briefing itself, so the demo cannot fail.</a:t>
            </a:r>
            <a:endParaRPr lang="en-US" sz="1550" dirty="0"/>
          </a:p>
          <a:p>
            <a:pPr marL="190500" indent="-190500">
              <a:lnSpc>
                <a:spcPts val="2400"/>
              </a:lnSpc>
              <a:spcAft>
                <a:spcPts val="1300"/>
              </a:spcAft>
              <a:buSzPct val="100000"/>
              <a:buChar char="•"/>
            </a:pPr>
            <a:r>
              <a:rPr lang="en-US" sz="1550" dirty="0">
                <a:solidFill>
                  <a:srgbClr val="DCE3F0"/>
                </a:solidFill>
                <a:latin typeface="Calibri" pitchFamily="34" charset="0"/>
                <a:ea typeface="Calibri" pitchFamily="34" charset="-122"/>
                <a:cs typeface="Calibri" pitchFamily="34" charset="-120"/>
              </a:rPr>
              <a:t>The scoring engine uses no LLM at all. The graded path stays fully deterministic.</a:t>
            </a:r>
            <a:endParaRPr lang="en-US" sz="1550" dirty="0"/>
          </a:p>
        </p:txBody>
      </p:sp>
      <p:pic>
        <p:nvPicPr>
          <p:cNvPr id="6" name="Image 0" descr="v2/12_llm_layer.png">    </p:cNvPr>
          <p:cNvPicPr>
            <a:picLocks noChangeAspect="1"/>
          </p:cNvPicPr>
          <p:nvPr/>
        </p:nvPicPr>
        <p:blipFill>
          <a:blip r:embed="rId1"/>
          <a:srcRect l="0" r="0" t="0" b="0"/>
          <a:stretch/>
        </p:blipFill>
        <p:spPr>
          <a:xfrm>
            <a:off x="6446520" y="1874520"/>
            <a:ext cx="5166360" cy="3886200"/>
          </a:xfrm>
          <a:prstGeom prst="rect">
            <a:avLst/>
          </a:prstGeom>
        </p:spPr>
      </p:pic>
      <p:sp>
        <p:nvSpPr>
          <p:cNvPr id="7"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14</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3DD68C"/>
                </a:solidFill>
                <a:latin typeface="Cambria" pitchFamily="34" charset="0"/>
                <a:ea typeface="Cambria" pitchFamily="34" charset="-122"/>
                <a:cs typeface="Cambria" pitchFamily="34" charset="-120"/>
              </a:rPr>
              <a:t>13</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PRODUCTION READINESS AND FUTURE SCOPE</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What is already solid, and what deployment would need</a:t>
            </a:r>
            <a:endParaRPr lang="en-US" sz="3100" dirty="0"/>
          </a:p>
        </p:txBody>
      </p:sp>
      <p:sp>
        <p:nvSpPr>
          <p:cNvPr id="5" name="Text 3"/>
          <p:cNvSpPr/>
          <p:nvPr/>
        </p:nvSpPr>
        <p:spPr>
          <a:xfrm>
            <a:off x="594360" y="1783080"/>
            <a:ext cx="11018520" cy="1737360"/>
          </a:xfrm>
          <a:prstGeom prst="rect">
            <a:avLst/>
          </a:prstGeom>
          <a:noFill/>
          <a:ln/>
        </p:spPr>
        <p:txBody>
          <a:bodyPr wrap="square" lIns="0" tIns="0" rIns="0" bIns="0" rtlCol="0" anchor="t"/>
          <a:lstStyle/>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Already solid: one offline command, pinned versions, model committed - a clean clone reproduces our results.</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It has automated pipeline tests, and survived 30 hostile inputs without a crash.</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To deploy, first fix the data: real Shopify or GA4 revenue instead of our Meta estimate, plus promo calendars.</a:t>
            </a:r>
            <a:endParaRPr lang="en-US" sz="1500" dirty="0"/>
          </a:p>
          <a:p>
            <a:pPr marL="190500" indent="-190500">
              <a:lnSpc>
                <a:spcPts val="2200"/>
              </a:lnSpc>
              <a:spcAft>
                <a:spcPts val="1000"/>
              </a:spcAft>
              <a:buSzPct val="100000"/>
              <a:buChar char="•"/>
            </a:pPr>
            <a:r>
              <a:rPr lang="en-US" sz="1500" dirty="0">
                <a:solidFill>
                  <a:srgbClr val="DCE3F0"/>
                </a:solidFill>
                <a:latin typeface="Calibri" pitchFamily="34" charset="0"/>
                <a:ea typeface="Calibri" pitchFamily="34" charset="-122"/>
                <a:cs typeface="Calibri" pitchFamily="34" charset="-120"/>
              </a:rPr>
              <a:t>Then operations: scheduled retraining, drift monitoring on coverage and error, and an API instead of a local run.</a:t>
            </a:r>
            <a:endParaRPr lang="en-US" sz="1500" dirty="0"/>
          </a:p>
        </p:txBody>
      </p:sp>
      <p:pic>
        <p:nvPicPr>
          <p:cNvPr id="6" name="Image 0" descr="v2/13_production.png">    </p:cNvPr>
          <p:cNvPicPr>
            <a:picLocks noChangeAspect="1"/>
          </p:cNvPicPr>
          <p:nvPr/>
        </p:nvPicPr>
        <p:blipFill>
          <a:blip r:embed="rId1"/>
          <a:srcRect l="0" r="0" t="0" b="0"/>
          <a:stretch/>
        </p:blipFill>
        <p:spPr>
          <a:xfrm>
            <a:off x="594360" y="3794760"/>
            <a:ext cx="11018520" cy="2286000"/>
          </a:xfrm>
          <a:prstGeom prst="rect">
            <a:avLst/>
          </a:prstGeom>
        </p:spPr>
      </p:pic>
      <p:sp>
        <p:nvSpPr>
          <p:cNvPr id="7" name="Text 4"/>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15</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FFB224"/>
                </a:solidFill>
                <a:latin typeface="Cambria" pitchFamily="34" charset="0"/>
                <a:ea typeface="Cambria" pitchFamily="34" charset="-122"/>
                <a:cs typeface="Cambria" pitchFamily="34" charset="-120"/>
              </a:rPr>
              <a:t>14</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CHALLENGES AND LEARNINGS</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What was hard, and what it taught us</a:t>
            </a:r>
            <a:endParaRPr lang="en-US" sz="3100" dirty="0"/>
          </a:p>
        </p:txBody>
      </p:sp>
      <p:sp>
        <p:nvSpPr>
          <p:cNvPr id="5" name="Text 3"/>
          <p:cNvSpPr/>
          <p:nvPr/>
        </p:nvSpPr>
        <p:spPr>
          <a:xfrm>
            <a:off x="594360" y="1783080"/>
            <a:ext cx="5303520" cy="292608"/>
          </a:xfrm>
          <a:prstGeom prst="rect">
            <a:avLst/>
          </a:prstGeom>
          <a:noFill/>
          <a:ln/>
        </p:spPr>
        <p:txBody>
          <a:bodyPr wrap="square" lIns="0" tIns="0" rIns="0" bIns="0" rtlCol="0" anchor="ctr"/>
          <a:lstStyle/>
          <a:p>
            <a:pPr indent="0" marL="0">
              <a:buNone/>
            </a:pPr>
            <a:r>
              <a:rPr lang="en-US" sz="1150" b="1" spc="180" kern="0" dirty="0">
                <a:solidFill>
                  <a:srgbClr val="8792A8"/>
                </a:solidFill>
                <a:latin typeface="Calibri" pitchFamily="34" charset="0"/>
                <a:ea typeface="Calibri" pitchFamily="34" charset="-122"/>
                <a:cs typeface="Calibri" pitchFamily="34" charset="-120"/>
              </a:rPr>
              <a:t>WHAT WAS HARD</a:t>
            </a:r>
            <a:endParaRPr lang="en-US" sz="1150" dirty="0"/>
          </a:p>
        </p:txBody>
      </p:sp>
      <p:sp>
        <p:nvSpPr>
          <p:cNvPr id="6" name="Shape 4"/>
          <p:cNvSpPr/>
          <p:nvPr/>
        </p:nvSpPr>
        <p:spPr>
          <a:xfrm>
            <a:off x="594360" y="2240280"/>
            <a:ext cx="5349240" cy="786384"/>
          </a:xfrm>
          <a:prstGeom prst="roundRect">
            <a:avLst>
              <a:gd name="adj" fmla="val 11628"/>
            </a:avLst>
          </a:prstGeom>
          <a:solidFill>
            <a:srgbClr val="161E33"/>
          </a:solidFill>
          <a:ln w="15875">
            <a:solidFill>
              <a:srgbClr val="2C3A5C"/>
            </a:solidFill>
            <a:prstDash val="solid"/>
          </a:ln>
        </p:spPr>
      </p:sp>
      <p:sp>
        <p:nvSpPr>
          <p:cNvPr id="7" name="Shape 5"/>
          <p:cNvSpPr/>
          <p:nvPr/>
        </p:nvSpPr>
        <p:spPr>
          <a:xfrm>
            <a:off x="594360" y="2240280"/>
            <a:ext cx="64008" cy="786384"/>
          </a:xfrm>
          <a:prstGeom prst="roundRect">
            <a:avLst>
              <a:gd name="adj" fmla="val 42857"/>
            </a:avLst>
          </a:prstGeom>
          <a:solidFill>
            <a:srgbClr val="FF4F87"/>
          </a:solidFill>
          <a:ln w="12700">
            <a:solidFill>
              <a:srgbClr val="FF4F87"/>
            </a:solidFill>
            <a:prstDash val="solid"/>
          </a:ln>
        </p:spPr>
      </p:sp>
      <p:sp>
        <p:nvSpPr>
          <p:cNvPr id="8" name="Text 6"/>
          <p:cNvSpPr/>
          <p:nvPr/>
        </p:nvSpPr>
        <p:spPr>
          <a:xfrm>
            <a:off x="905256" y="2240280"/>
            <a:ext cx="4800600" cy="786384"/>
          </a:xfrm>
          <a:prstGeom prst="rect">
            <a:avLst/>
          </a:prstGeom>
          <a:noFill/>
          <a:ln/>
        </p:spPr>
        <p:txBody>
          <a:bodyPr wrap="square" lIns="0" tIns="0" rIns="0" bIns="0" rtlCol="0" anchor="ctr"/>
          <a:lstStyle/>
          <a:p>
            <a:pPr indent="0" marL="0">
              <a:lnSpc>
                <a:spcPts val="2100"/>
              </a:lnSpc>
              <a:buNone/>
            </a:pPr>
            <a:r>
              <a:rPr lang="en-US" sz="1450" dirty="0">
                <a:solidFill>
                  <a:srgbClr val="DCE3F0"/>
                </a:solidFill>
                <a:latin typeface="Calibri" pitchFamily="34" charset="0"/>
                <a:ea typeface="Calibri" pitchFamily="34" charset="-122"/>
                <a:cs typeface="Calibri" pitchFamily="34" charset="-120"/>
              </a:rPr>
              <a:t>Meta reported no revenue at all.</a:t>
            </a:r>
            <a:endParaRPr lang="en-US" sz="1450" dirty="0"/>
          </a:p>
        </p:txBody>
      </p:sp>
      <p:sp>
        <p:nvSpPr>
          <p:cNvPr id="9" name="Shape 7"/>
          <p:cNvSpPr/>
          <p:nvPr/>
        </p:nvSpPr>
        <p:spPr>
          <a:xfrm>
            <a:off x="594360" y="3172968"/>
            <a:ext cx="5349240" cy="786384"/>
          </a:xfrm>
          <a:prstGeom prst="roundRect">
            <a:avLst>
              <a:gd name="adj" fmla="val 11628"/>
            </a:avLst>
          </a:prstGeom>
          <a:solidFill>
            <a:srgbClr val="161E33"/>
          </a:solidFill>
          <a:ln w="15875">
            <a:solidFill>
              <a:srgbClr val="2C3A5C"/>
            </a:solidFill>
            <a:prstDash val="solid"/>
          </a:ln>
        </p:spPr>
      </p:sp>
      <p:sp>
        <p:nvSpPr>
          <p:cNvPr id="10" name="Shape 8"/>
          <p:cNvSpPr/>
          <p:nvPr/>
        </p:nvSpPr>
        <p:spPr>
          <a:xfrm>
            <a:off x="594360" y="3172968"/>
            <a:ext cx="64008" cy="786384"/>
          </a:xfrm>
          <a:prstGeom prst="roundRect">
            <a:avLst>
              <a:gd name="adj" fmla="val 42857"/>
            </a:avLst>
          </a:prstGeom>
          <a:solidFill>
            <a:srgbClr val="4D97FF"/>
          </a:solidFill>
          <a:ln w="12700">
            <a:solidFill>
              <a:srgbClr val="4D97FF"/>
            </a:solidFill>
            <a:prstDash val="solid"/>
          </a:ln>
        </p:spPr>
      </p:sp>
      <p:sp>
        <p:nvSpPr>
          <p:cNvPr id="11" name="Text 9"/>
          <p:cNvSpPr/>
          <p:nvPr/>
        </p:nvSpPr>
        <p:spPr>
          <a:xfrm>
            <a:off x="905256" y="3172968"/>
            <a:ext cx="4800600" cy="786384"/>
          </a:xfrm>
          <a:prstGeom prst="rect">
            <a:avLst/>
          </a:prstGeom>
          <a:noFill/>
          <a:ln/>
        </p:spPr>
        <p:txBody>
          <a:bodyPr wrap="square" lIns="0" tIns="0" rIns="0" bIns="0" rtlCol="0" anchor="ctr"/>
          <a:lstStyle/>
          <a:p>
            <a:pPr indent="0" marL="0">
              <a:lnSpc>
                <a:spcPts val="2100"/>
              </a:lnSpc>
              <a:buNone/>
            </a:pPr>
            <a:r>
              <a:rPr lang="en-US" sz="1450" dirty="0">
                <a:solidFill>
                  <a:srgbClr val="DCE3F0"/>
                </a:solidFill>
                <a:latin typeface="Calibri" pitchFamily="34" charset="0"/>
                <a:ea typeface="Calibri" pitchFamily="34" charset="-122"/>
                <a:cs typeface="Calibri" pitchFamily="34" charset="-120"/>
              </a:rPr>
              <a:t>Three files, three formats, three unit conventions.</a:t>
            </a:r>
            <a:endParaRPr lang="en-US" sz="1450" dirty="0"/>
          </a:p>
        </p:txBody>
      </p:sp>
      <p:sp>
        <p:nvSpPr>
          <p:cNvPr id="12" name="Shape 10"/>
          <p:cNvSpPr/>
          <p:nvPr/>
        </p:nvSpPr>
        <p:spPr>
          <a:xfrm>
            <a:off x="594360" y="4105656"/>
            <a:ext cx="5349240" cy="786384"/>
          </a:xfrm>
          <a:prstGeom prst="roundRect">
            <a:avLst>
              <a:gd name="adj" fmla="val 11628"/>
            </a:avLst>
          </a:prstGeom>
          <a:solidFill>
            <a:srgbClr val="161E33"/>
          </a:solidFill>
          <a:ln w="15875">
            <a:solidFill>
              <a:srgbClr val="2C3A5C"/>
            </a:solidFill>
            <a:prstDash val="solid"/>
          </a:ln>
        </p:spPr>
      </p:sp>
      <p:sp>
        <p:nvSpPr>
          <p:cNvPr id="13" name="Shape 11"/>
          <p:cNvSpPr/>
          <p:nvPr/>
        </p:nvSpPr>
        <p:spPr>
          <a:xfrm>
            <a:off x="594360" y="4105656"/>
            <a:ext cx="64008" cy="786384"/>
          </a:xfrm>
          <a:prstGeom prst="roundRect">
            <a:avLst>
              <a:gd name="adj" fmla="val 42857"/>
            </a:avLst>
          </a:prstGeom>
          <a:solidFill>
            <a:srgbClr val="9B7BFF"/>
          </a:solidFill>
          <a:ln w="12700">
            <a:solidFill>
              <a:srgbClr val="9B7BFF"/>
            </a:solidFill>
            <a:prstDash val="solid"/>
          </a:ln>
        </p:spPr>
      </p:sp>
      <p:sp>
        <p:nvSpPr>
          <p:cNvPr id="14" name="Text 12"/>
          <p:cNvSpPr/>
          <p:nvPr/>
        </p:nvSpPr>
        <p:spPr>
          <a:xfrm>
            <a:off x="905256" y="4105656"/>
            <a:ext cx="4800600" cy="786384"/>
          </a:xfrm>
          <a:prstGeom prst="rect">
            <a:avLst/>
          </a:prstGeom>
          <a:noFill/>
          <a:ln/>
        </p:spPr>
        <p:txBody>
          <a:bodyPr wrap="square" lIns="0" tIns="0" rIns="0" bIns="0" rtlCol="0" anchor="ctr"/>
          <a:lstStyle/>
          <a:p>
            <a:pPr indent="0" marL="0">
              <a:lnSpc>
                <a:spcPts val="2100"/>
              </a:lnSpc>
              <a:buNone/>
            </a:pPr>
            <a:r>
              <a:rPr lang="en-US" sz="1450" dirty="0">
                <a:solidFill>
                  <a:srgbClr val="DCE3F0"/>
                </a:solidFill>
                <a:latin typeface="Calibri" pitchFamily="34" charset="0"/>
                <a:ea typeface="Calibri" pitchFamily="34" charset="-122"/>
                <a:cs typeface="Calibri" pitchFamily="34" charset="-120"/>
              </a:rPr>
              <a:t>Our raw model band was too narrow to trust.</a:t>
            </a:r>
            <a:endParaRPr lang="en-US" sz="1450" dirty="0"/>
          </a:p>
        </p:txBody>
      </p:sp>
      <p:sp>
        <p:nvSpPr>
          <p:cNvPr id="15" name="Shape 13"/>
          <p:cNvSpPr/>
          <p:nvPr/>
        </p:nvSpPr>
        <p:spPr>
          <a:xfrm>
            <a:off x="594360" y="5038344"/>
            <a:ext cx="5349240" cy="786384"/>
          </a:xfrm>
          <a:prstGeom prst="roundRect">
            <a:avLst>
              <a:gd name="adj" fmla="val 11628"/>
            </a:avLst>
          </a:prstGeom>
          <a:solidFill>
            <a:srgbClr val="161E33"/>
          </a:solidFill>
          <a:ln w="15875">
            <a:solidFill>
              <a:srgbClr val="2C3A5C"/>
            </a:solidFill>
            <a:prstDash val="solid"/>
          </a:ln>
        </p:spPr>
      </p:sp>
      <p:sp>
        <p:nvSpPr>
          <p:cNvPr id="16" name="Shape 14"/>
          <p:cNvSpPr/>
          <p:nvPr/>
        </p:nvSpPr>
        <p:spPr>
          <a:xfrm>
            <a:off x="594360" y="5038344"/>
            <a:ext cx="64008" cy="786384"/>
          </a:xfrm>
          <a:prstGeom prst="roundRect">
            <a:avLst>
              <a:gd name="adj" fmla="val 42857"/>
            </a:avLst>
          </a:prstGeom>
          <a:solidFill>
            <a:srgbClr val="31D8C4"/>
          </a:solidFill>
          <a:ln w="12700">
            <a:solidFill>
              <a:srgbClr val="31D8C4"/>
            </a:solidFill>
            <a:prstDash val="solid"/>
          </a:ln>
        </p:spPr>
      </p:sp>
      <p:sp>
        <p:nvSpPr>
          <p:cNvPr id="17" name="Text 15"/>
          <p:cNvSpPr/>
          <p:nvPr/>
        </p:nvSpPr>
        <p:spPr>
          <a:xfrm>
            <a:off x="905256" y="5038344"/>
            <a:ext cx="4800600" cy="786384"/>
          </a:xfrm>
          <a:prstGeom prst="rect">
            <a:avLst/>
          </a:prstGeom>
          <a:noFill/>
          <a:ln/>
        </p:spPr>
        <p:txBody>
          <a:bodyPr wrap="square" lIns="0" tIns="0" rIns="0" bIns="0" rtlCol="0" anchor="ctr"/>
          <a:lstStyle/>
          <a:p>
            <a:pPr indent="0" marL="0">
              <a:lnSpc>
                <a:spcPts val="2100"/>
              </a:lnSpc>
              <a:buNone/>
            </a:pPr>
            <a:r>
              <a:rPr lang="en-US" sz="1450" dirty="0">
                <a:solidFill>
                  <a:srgbClr val="DCE3F0"/>
                </a:solidFill>
                <a:latin typeface="Calibri" pitchFamily="34" charset="0"/>
                <a:ea typeface="Calibri" pitchFamily="34" charset="-122"/>
                <a:cs typeface="Calibri" pitchFamily="34" charset="-120"/>
              </a:rPr>
              <a:t>The scored run had to work offline, first time, on unseen data.</a:t>
            </a:r>
            <a:endParaRPr lang="en-US" sz="1450" dirty="0"/>
          </a:p>
        </p:txBody>
      </p:sp>
      <p:sp>
        <p:nvSpPr>
          <p:cNvPr id="18" name="Text 16"/>
          <p:cNvSpPr/>
          <p:nvPr/>
        </p:nvSpPr>
        <p:spPr>
          <a:xfrm>
            <a:off x="6263640" y="1783080"/>
            <a:ext cx="5303520" cy="292608"/>
          </a:xfrm>
          <a:prstGeom prst="rect">
            <a:avLst/>
          </a:prstGeom>
          <a:noFill/>
          <a:ln/>
        </p:spPr>
        <p:txBody>
          <a:bodyPr wrap="square" lIns="0" tIns="0" rIns="0" bIns="0" rtlCol="0" anchor="ctr"/>
          <a:lstStyle/>
          <a:p>
            <a:pPr indent="0" marL="0">
              <a:buNone/>
            </a:pPr>
            <a:r>
              <a:rPr lang="en-US" sz="1150" b="1" spc="180" kern="0" dirty="0">
                <a:solidFill>
                  <a:srgbClr val="8792A8"/>
                </a:solidFill>
                <a:latin typeface="Calibri" pitchFamily="34" charset="0"/>
                <a:ea typeface="Calibri" pitchFamily="34" charset="-122"/>
                <a:cs typeface="Calibri" pitchFamily="34" charset="-120"/>
              </a:rPr>
              <a:t>WHAT WE LEARNED</a:t>
            </a:r>
            <a:endParaRPr lang="en-US" sz="1150" dirty="0"/>
          </a:p>
        </p:txBody>
      </p:sp>
      <p:sp>
        <p:nvSpPr>
          <p:cNvPr id="19" name="Shape 17"/>
          <p:cNvSpPr/>
          <p:nvPr/>
        </p:nvSpPr>
        <p:spPr>
          <a:xfrm>
            <a:off x="6263640" y="2240280"/>
            <a:ext cx="5349240" cy="786384"/>
          </a:xfrm>
          <a:prstGeom prst="roundRect">
            <a:avLst>
              <a:gd name="adj" fmla="val 11628"/>
            </a:avLst>
          </a:prstGeom>
          <a:solidFill>
            <a:srgbClr val="161E33"/>
          </a:solidFill>
          <a:ln w="15875">
            <a:solidFill>
              <a:srgbClr val="2C3A5C"/>
            </a:solidFill>
            <a:prstDash val="solid"/>
          </a:ln>
        </p:spPr>
      </p:sp>
      <p:sp>
        <p:nvSpPr>
          <p:cNvPr id="20" name="Shape 18"/>
          <p:cNvSpPr/>
          <p:nvPr/>
        </p:nvSpPr>
        <p:spPr>
          <a:xfrm>
            <a:off x="6263640" y="2240280"/>
            <a:ext cx="64008" cy="786384"/>
          </a:xfrm>
          <a:prstGeom prst="roundRect">
            <a:avLst>
              <a:gd name="adj" fmla="val 42857"/>
            </a:avLst>
          </a:prstGeom>
          <a:solidFill>
            <a:srgbClr val="FF4F87"/>
          </a:solidFill>
          <a:ln w="12700">
            <a:solidFill>
              <a:srgbClr val="FF4F87"/>
            </a:solidFill>
            <a:prstDash val="solid"/>
          </a:ln>
        </p:spPr>
      </p:sp>
      <p:sp>
        <p:nvSpPr>
          <p:cNvPr id="21" name="Text 19"/>
          <p:cNvSpPr/>
          <p:nvPr/>
        </p:nvSpPr>
        <p:spPr>
          <a:xfrm>
            <a:off x="6574536" y="2240280"/>
            <a:ext cx="4800600" cy="786384"/>
          </a:xfrm>
          <a:prstGeom prst="rect">
            <a:avLst/>
          </a:prstGeom>
          <a:noFill/>
          <a:ln/>
        </p:spPr>
        <p:txBody>
          <a:bodyPr wrap="square" lIns="0" tIns="0" rIns="0" bIns="0" rtlCol="0" anchor="ctr"/>
          <a:lstStyle/>
          <a:p>
            <a:pPr indent="0" marL="0">
              <a:lnSpc>
                <a:spcPts val="2100"/>
              </a:lnSpc>
              <a:buNone/>
            </a:pPr>
            <a:r>
              <a:rPr lang="en-US" sz="1450" dirty="0">
                <a:solidFill>
                  <a:srgbClr val="DCE3F0"/>
                </a:solidFill>
                <a:latin typeface="Calibri" pitchFamily="34" charset="0"/>
                <a:ea typeface="Calibri" pitchFamily="34" charset="-122"/>
                <a:cs typeface="Calibri" pitchFamily="34" charset="-120"/>
              </a:rPr>
              <a:t>Reading the data mattered more than the model choice.</a:t>
            </a:r>
            <a:endParaRPr lang="en-US" sz="1450" dirty="0"/>
          </a:p>
        </p:txBody>
      </p:sp>
      <p:sp>
        <p:nvSpPr>
          <p:cNvPr id="22" name="Shape 20"/>
          <p:cNvSpPr/>
          <p:nvPr/>
        </p:nvSpPr>
        <p:spPr>
          <a:xfrm>
            <a:off x="6263640" y="3172968"/>
            <a:ext cx="5349240" cy="786384"/>
          </a:xfrm>
          <a:prstGeom prst="roundRect">
            <a:avLst>
              <a:gd name="adj" fmla="val 11628"/>
            </a:avLst>
          </a:prstGeom>
          <a:solidFill>
            <a:srgbClr val="161E33"/>
          </a:solidFill>
          <a:ln w="15875">
            <a:solidFill>
              <a:srgbClr val="2C3A5C"/>
            </a:solidFill>
            <a:prstDash val="solid"/>
          </a:ln>
        </p:spPr>
      </p:sp>
      <p:sp>
        <p:nvSpPr>
          <p:cNvPr id="23" name="Shape 21"/>
          <p:cNvSpPr/>
          <p:nvPr/>
        </p:nvSpPr>
        <p:spPr>
          <a:xfrm>
            <a:off x="6263640" y="3172968"/>
            <a:ext cx="64008" cy="786384"/>
          </a:xfrm>
          <a:prstGeom prst="roundRect">
            <a:avLst>
              <a:gd name="adj" fmla="val 42857"/>
            </a:avLst>
          </a:prstGeom>
          <a:solidFill>
            <a:srgbClr val="4D97FF"/>
          </a:solidFill>
          <a:ln w="12700">
            <a:solidFill>
              <a:srgbClr val="4D97FF"/>
            </a:solidFill>
            <a:prstDash val="solid"/>
          </a:ln>
        </p:spPr>
      </p:sp>
      <p:sp>
        <p:nvSpPr>
          <p:cNvPr id="24" name="Text 22"/>
          <p:cNvSpPr/>
          <p:nvPr/>
        </p:nvSpPr>
        <p:spPr>
          <a:xfrm>
            <a:off x="6574536" y="3172968"/>
            <a:ext cx="4800600" cy="786384"/>
          </a:xfrm>
          <a:prstGeom prst="rect">
            <a:avLst/>
          </a:prstGeom>
          <a:noFill/>
          <a:ln/>
        </p:spPr>
        <p:txBody>
          <a:bodyPr wrap="square" lIns="0" tIns="0" rIns="0" bIns="0" rtlCol="0" anchor="ctr"/>
          <a:lstStyle/>
          <a:p>
            <a:pPr indent="0" marL="0">
              <a:lnSpc>
                <a:spcPts val="2100"/>
              </a:lnSpc>
              <a:buNone/>
            </a:pPr>
            <a:r>
              <a:rPr lang="en-US" sz="1450" dirty="0">
                <a:solidFill>
                  <a:srgbClr val="DCE3F0"/>
                </a:solidFill>
                <a:latin typeface="Calibri" pitchFamily="34" charset="0"/>
                <a:ea typeface="Calibri" pitchFamily="34" charset="-122"/>
                <a:cs typeface="Calibri" pitchFamily="34" charset="-120"/>
              </a:rPr>
              <a:t>Cleaning is not setup work - it is where the accuracy came from.</a:t>
            </a:r>
            <a:endParaRPr lang="en-US" sz="1450" dirty="0"/>
          </a:p>
        </p:txBody>
      </p:sp>
      <p:sp>
        <p:nvSpPr>
          <p:cNvPr id="25" name="Shape 23"/>
          <p:cNvSpPr/>
          <p:nvPr/>
        </p:nvSpPr>
        <p:spPr>
          <a:xfrm>
            <a:off x="6263640" y="4105656"/>
            <a:ext cx="5349240" cy="786384"/>
          </a:xfrm>
          <a:prstGeom prst="roundRect">
            <a:avLst>
              <a:gd name="adj" fmla="val 11628"/>
            </a:avLst>
          </a:prstGeom>
          <a:solidFill>
            <a:srgbClr val="161E33"/>
          </a:solidFill>
          <a:ln w="15875">
            <a:solidFill>
              <a:srgbClr val="2C3A5C"/>
            </a:solidFill>
            <a:prstDash val="solid"/>
          </a:ln>
        </p:spPr>
      </p:sp>
      <p:sp>
        <p:nvSpPr>
          <p:cNvPr id="26" name="Shape 24"/>
          <p:cNvSpPr/>
          <p:nvPr/>
        </p:nvSpPr>
        <p:spPr>
          <a:xfrm>
            <a:off x="6263640" y="4105656"/>
            <a:ext cx="64008" cy="786384"/>
          </a:xfrm>
          <a:prstGeom prst="roundRect">
            <a:avLst>
              <a:gd name="adj" fmla="val 42857"/>
            </a:avLst>
          </a:prstGeom>
          <a:solidFill>
            <a:srgbClr val="9B7BFF"/>
          </a:solidFill>
          <a:ln w="12700">
            <a:solidFill>
              <a:srgbClr val="9B7BFF"/>
            </a:solidFill>
            <a:prstDash val="solid"/>
          </a:ln>
        </p:spPr>
      </p:sp>
      <p:sp>
        <p:nvSpPr>
          <p:cNvPr id="27" name="Text 25"/>
          <p:cNvSpPr/>
          <p:nvPr/>
        </p:nvSpPr>
        <p:spPr>
          <a:xfrm>
            <a:off x="6574536" y="4105656"/>
            <a:ext cx="4800600" cy="786384"/>
          </a:xfrm>
          <a:prstGeom prst="rect">
            <a:avLst/>
          </a:prstGeom>
          <a:noFill/>
          <a:ln/>
        </p:spPr>
        <p:txBody>
          <a:bodyPr wrap="square" lIns="0" tIns="0" rIns="0" bIns="0" rtlCol="0" anchor="ctr"/>
          <a:lstStyle/>
          <a:p>
            <a:pPr indent="0" marL="0">
              <a:lnSpc>
                <a:spcPts val="2100"/>
              </a:lnSpc>
              <a:buNone/>
            </a:pPr>
            <a:r>
              <a:rPr lang="en-US" sz="1450" dirty="0">
                <a:solidFill>
                  <a:srgbClr val="DCE3F0"/>
                </a:solidFill>
                <a:latin typeface="Calibri" pitchFamily="34" charset="0"/>
                <a:ea typeface="Calibri" pitchFamily="34" charset="-122"/>
                <a:cs typeface="Calibri" pitchFamily="34" charset="-120"/>
              </a:rPr>
              <a:t>An honest range beats a confident single number.</a:t>
            </a:r>
            <a:endParaRPr lang="en-US" sz="1450" dirty="0"/>
          </a:p>
        </p:txBody>
      </p:sp>
      <p:sp>
        <p:nvSpPr>
          <p:cNvPr id="28" name="Shape 26"/>
          <p:cNvSpPr/>
          <p:nvPr/>
        </p:nvSpPr>
        <p:spPr>
          <a:xfrm>
            <a:off x="6263640" y="5038344"/>
            <a:ext cx="5349240" cy="786384"/>
          </a:xfrm>
          <a:prstGeom prst="roundRect">
            <a:avLst>
              <a:gd name="adj" fmla="val 11628"/>
            </a:avLst>
          </a:prstGeom>
          <a:solidFill>
            <a:srgbClr val="161E33"/>
          </a:solidFill>
          <a:ln w="15875">
            <a:solidFill>
              <a:srgbClr val="2C3A5C"/>
            </a:solidFill>
            <a:prstDash val="solid"/>
          </a:ln>
        </p:spPr>
      </p:sp>
      <p:sp>
        <p:nvSpPr>
          <p:cNvPr id="29" name="Shape 27"/>
          <p:cNvSpPr/>
          <p:nvPr/>
        </p:nvSpPr>
        <p:spPr>
          <a:xfrm>
            <a:off x="6263640" y="5038344"/>
            <a:ext cx="64008" cy="786384"/>
          </a:xfrm>
          <a:prstGeom prst="roundRect">
            <a:avLst>
              <a:gd name="adj" fmla="val 42857"/>
            </a:avLst>
          </a:prstGeom>
          <a:solidFill>
            <a:srgbClr val="31D8C4"/>
          </a:solidFill>
          <a:ln w="12700">
            <a:solidFill>
              <a:srgbClr val="31D8C4"/>
            </a:solidFill>
            <a:prstDash val="solid"/>
          </a:ln>
        </p:spPr>
      </p:sp>
      <p:sp>
        <p:nvSpPr>
          <p:cNvPr id="30" name="Text 28"/>
          <p:cNvSpPr/>
          <p:nvPr/>
        </p:nvSpPr>
        <p:spPr>
          <a:xfrm>
            <a:off x="6574536" y="5038344"/>
            <a:ext cx="4800600" cy="786384"/>
          </a:xfrm>
          <a:prstGeom prst="rect">
            <a:avLst/>
          </a:prstGeom>
          <a:noFill/>
          <a:ln/>
        </p:spPr>
        <p:txBody>
          <a:bodyPr wrap="square" lIns="0" tIns="0" rIns="0" bIns="0" rtlCol="0" anchor="ctr"/>
          <a:lstStyle/>
          <a:p>
            <a:pPr indent="0" marL="0">
              <a:lnSpc>
                <a:spcPts val="2100"/>
              </a:lnSpc>
              <a:buNone/>
            </a:pPr>
            <a:r>
              <a:rPr lang="en-US" sz="1450" dirty="0">
                <a:solidFill>
                  <a:srgbClr val="DCE3F0"/>
                </a:solidFill>
                <a:latin typeface="Calibri" pitchFamily="34" charset="0"/>
                <a:ea typeface="Calibri" pitchFamily="34" charset="-122"/>
                <a:cs typeface="Calibri" pitchFamily="34" charset="-120"/>
              </a:rPr>
              <a:t>Keep the graded path deterministic, keep the AI outside it.</a:t>
            </a:r>
            <a:endParaRPr lang="en-US" sz="1450" dirty="0"/>
          </a:p>
        </p:txBody>
      </p:sp>
      <p:sp>
        <p:nvSpPr>
          <p:cNvPr id="31" name="Text 29"/>
          <p:cNvSpPr/>
          <p:nvPr/>
        </p:nvSpPr>
        <p:spPr>
          <a:xfrm>
            <a:off x="594360" y="6053328"/>
            <a:ext cx="11018520" cy="365760"/>
          </a:xfrm>
          <a:prstGeom prst="rect">
            <a:avLst/>
          </a:prstGeom>
          <a:noFill/>
          <a:ln/>
        </p:spPr>
        <p:txBody>
          <a:bodyPr wrap="square" lIns="0" tIns="0" rIns="0" bIns="0" rtlCol="0" anchor="ctr"/>
          <a:lstStyle/>
          <a:p>
            <a:pPr indent="0" marL="0">
              <a:buNone/>
            </a:pPr>
            <a:r>
              <a:rPr lang="en-US" sz="1300" dirty="0">
                <a:solidFill>
                  <a:srgbClr val="8792A8"/>
                </a:solidFill>
                <a:latin typeface="Calibri" pitchFamily="34" charset="0"/>
                <a:ea typeface="Calibri" pitchFamily="34" charset="-122"/>
                <a:cs typeface="Calibri" pitchFamily="34" charset="-120"/>
              </a:rPr>
              <a:t>Future scope is on the previous slide: real revenue data, promo calendars, retraining and drift monitoring.</a:t>
            </a:r>
            <a:endParaRPr lang="en-US" sz="1300" dirty="0"/>
          </a:p>
        </p:txBody>
      </p:sp>
      <p:sp>
        <p:nvSpPr>
          <p:cNvPr id="32" name="Text 30"/>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16</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0E1A"/>
        </a:solidFill>
      </p:bgPr>
    </p:bg>
    <p:spTree>
      <p:nvGrpSpPr>
        <p:cNvPr id="1" name=""/>
        <p:cNvGrpSpPr/>
        <p:nvPr/>
      </p:nvGrpSpPr>
      <p:grpSpPr>
        <a:xfrm>
          <a:off x="0" y="0"/>
          <a:ext cx="0" cy="0"/>
          <a:chOff x="0" y="0"/>
          <a:chExt cx="0" cy="0"/>
        </a:xfrm>
      </p:grpSpPr>
      <p:sp>
        <p:nvSpPr>
          <p:cNvPr id="2" name="Text 0"/>
          <p:cNvSpPr/>
          <p:nvPr/>
        </p:nvSpPr>
        <p:spPr>
          <a:xfrm>
            <a:off x="594360" y="365760"/>
            <a:ext cx="566928" cy="384048"/>
          </a:xfrm>
          <a:prstGeom prst="rect">
            <a:avLst/>
          </a:prstGeom>
          <a:noFill/>
          <a:ln/>
        </p:spPr>
        <p:txBody>
          <a:bodyPr wrap="square" lIns="0" tIns="0" rIns="0" bIns="0" rtlCol="0" anchor="ctr"/>
          <a:lstStyle/>
          <a:p>
            <a:pPr indent="0" marL="0">
              <a:buNone/>
            </a:pPr>
            <a:r>
              <a:rPr lang="en-US" sz="2200" b="1" dirty="0">
                <a:solidFill>
                  <a:srgbClr val="3DD68C"/>
                </a:solidFill>
                <a:latin typeface="Cambria" pitchFamily="34" charset="0"/>
                <a:ea typeface="Cambria" pitchFamily="34" charset="-122"/>
                <a:cs typeface="Cambria" pitchFamily="34" charset="-120"/>
              </a:rPr>
              <a:t>15</a:t>
            </a:r>
            <a:endParaRPr lang="en-US" sz="2200" dirty="0"/>
          </a:p>
        </p:txBody>
      </p:sp>
      <p:sp>
        <p:nvSpPr>
          <p:cNvPr id="3" name="Text 1"/>
          <p:cNvSpPr/>
          <p:nvPr/>
        </p:nvSpPr>
        <p:spPr>
          <a:xfrm>
            <a:off x="1143000" y="365760"/>
            <a:ext cx="7772400" cy="384048"/>
          </a:xfrm>
          <a:prstGeom prst="rect">
            <a:avLst/>
          </a:prstGeom>
          <a:noFill/>
          <a:ln/>
        </p:spPr>
        <p:txBody>
          <a:bodyPr wrap="square" lIns="0" tIns="0" rIns="0" bIns="0" rtlCol="0" anchor="ctr"/>
          <a:lstStyle/>
          <a:p>
            <a:pPr indent="0" marL="0">
              <a:buNone/>
            </a:pPr>
            <a:r>
              <a:rPr lang="en-US" sz="1200" b="1" spc="220" kern="0" dirty="0">
                <a:solidFill>
                  <a:srgbClr val="8792A8"/>
                </a:solidFill>
                <a:latin typeface="Calibri" pitchFamily="34" charset="0"/>
                <a:ea typeface="Calibri" pitchFamily="34" charset="-122"/>
                <a:cs typeface="Calibri" pitchFamily="34" charset="-120"/>
              </a:rPr>
              <a:t>WHY US</a:t>
            </a:r>
            <a:endParaRPr lang="en-US" sz="1200" dirty="0"/>
          </a:p>
        </p:txBody>
      </p:sp>
      <p:sp>
        <p:nvSpPr>
          <p:cNvPr id="4" name="Text 2"/>
          <p:cNvSpPr/>
          <p:nvPr/>
        </p:nvSpPr>
        <p:spPr>
          <a:xfrm>
            <a:off x="594360" y="841248"/>
            <a:ext cx="10972800" cy="713232"/>
          </a:xfrm>
          <a:prstGeom prst="rect">
            <a:avLst/>
          </a:prstGeom>
          <a:noFill/>
          <a:ln/>
        </p:spPr>
        <p:txBody>
          <a:bodyPr wrap="square" lIns="0" tIns="0" rIns="0" bIns="0" rtlCol="0" anchor="t"/>
          <a:lstStyle/>
          <a:p>
            <a:pPr indent="0" marL="0">
              <a:buNone/>
            </a:pPr>
            <a:r>
              <a:rPr lang="en-US" sz="3100" b="1" dirty="0">
                <a:solidFill>
                  <a:srgbClr val="F4F7FC"/>
                </a:solidFill>
                <a:latin typeface="Cambria" pitchFamily="34" charset="0"/>
                <a:ea typeface="Cambria" pitchFamily="34" charset="-122"/>
                <a:cs typeface="Cambria" pitchFamily="34" charset="-120"/>
              </a:rPr>
              <a:t>Reliability, and the five reasons to pick this</a:t>
            </a:r>
            <a:endParaRPr lang="en-US" sz="3100" dirty="0"/>
          </a:p>
        </p:txBody>
      </p:sp>
      <p:pic>
        <p:nvPicPr>
          <p:cNvPr id="5" name="Image 0" descr="v2/14_robustness.png">    </p:cNvPr>
          <p:cNvPicPr>
            <a:picLocks noChangeAspect="1"/>
          </p:cNvPicPr>
          <p:nvPr/>
        </p:nvPicPr>
        <p:blipFill>
          <a:blip r:embed="rId1"/>
          <a:srcRect l="0" r="0" t="0" b="0"/>
          <a:stretch/>
        </p:blipFill>
        <p:spPr>
          <a:xfrm>
            <a:off x="594360" y="1691640"/>
            <a:ext cx="5257800" cy="3063240"/>
          </a:xfrm>
          <a:prstGeom prst="rect">
            <a:avLst/>
          </a:prstGeom>
        </p:spPr>
      </p:pic>
      <p:sp>
        <p:nvSpPr>
          <p:cNvPr id="6" name="Shape 3"/>
          <p:cNvSpPr/>
          <p:nvPr/>
        </p:nvSpPr>
        <p:spPr>
          <a:xfrm>
            <a:off x="6263640" y="1691640"/>
            <a:ext cx="5349240" cy="621792"/>
          </a:xfrm>
          <a:prstGeom prst="roundRect">
            <a:avLst>
              <a:gd name="adj" fmla="val 14706"/>
            </a:avLst>
          </a:prstGeom>
          <a:solidFill>
            <a:srgbClr val="161E33"/>
          </a:solidFill>
          <a:ln w="15875">
            <a:solidFill>
              <a:srgbClr val="2C3A5C"/>
            </a:solidFill>
            <a:prstDash val="solid"/>
          </a:ln>
        </p:spPr>
      </p:sp>
      <p:sp>
        <p:nvSpPr>
          <p:cNvPr id="7" name="Text 4"/>
          <p:cNvSpPr/>
          <p:nvPr/>
        </p:nvSpPr>
        <p:spPr>
          <a:xfrm>
            <a:off x="6492240" y="1691640"/>
            <a:ext cx="566928" cy="621792"/>
          </a:xfrm>
          <a:prstGeom prst="rect">
            <a:avLst/>
          </a:prstGeom>
          <a:noFill/>
          <a:ln/>
        </p:spPr>
        <p:txBody>
          <a:bodyPr wrap="square" lIns="0" tIns="0" rIns="0" bIns="0" rtlCol="0" anchor="ctr"/>
          <a:lstStyle/>
          <a:p>
            <a:pPr indent="0" marL="0">
              <a:buNone/>
            </a:pPr>
            <a:r>
              <a:rPr lang="en-US" sz="1600" b="1" dirty="0">
                <a:solidFill>
                  <a:srgbClr val="31D8C4"/>
                </a:solidFill>
                <a:latin typeface="Cambria" pitchFamily="34" charset="0"/>
                <a:ea typeface="Cambria" pitchFamily="34" charset="-122"/>
                <a:cs typeface="Cambria" pitchFamily="34" charset="-120"/>
              </a:rPr>
              <a:t>01</a:t>
            </a:r>
            <a:endParaRPr lang="en-US" sz="1600" dirty="0"/>
          </a:p>
        </p:txBody>
      </p:sp>
      <p:sp>
        <p:nvSpPr>
          <p:cNvPr id="8" name="Text 5"/>
          <p:cNvSpPr/>
          <p:nvPr/>
        </p:nvSpPr>
        <p:spPr>
          <a:xfrm>
            <a:off x="7086600" y="1691640"/>
            <a:ext cx="4343400" cy="621792"/>
          </a:xfrm>
          <a:prstGeom prst="rect">
            <a:avLst/>
          </a:prstGeom>
          <a:noFill/>
          <a:ln/>
        </p:spPr>
        <p:txBody>
          <a:bodyPr wrap="square" lIns="0" tIns="0" rIns="0" bIns="0" rtlCol="0" anchor="ctr"/>
          <a:lstStyle/>
          <a:p>
            <a:pPr indent="0" marL="0">
              <a:buNone/>
            </a:pPr>
            <a:r>
              <a:rPr lang="en-US" sz="1300" dirty="0">
                <a:solidFill>
                  <a:srgbClr val="DCE3F0"/>
                </a:solidFill>
                <a:latin typeface="Calibri" pitchFamily="34" charset="0"/>
                <a:ea typeface="Calibri" pitchFamily="34" charset="-122"/>
                <a:cs typeface="Calibri" pitchFamily="34" charset="-120"/>
              </a:rPr>
              <a:t>We predict a calibrated range, not one risky number.</a:t>
            </a:r>
            <a:endParaRPr lang="en-US" sz="1300" dirty="0"/>
          </a:p>
        </p:txBody>
      </p:sp>
      <p:sp>
        <p:nvSpPr>
          <p:cNvPr id="9" name="Shape 6"/>
          <p:cNvSpPr/>
          <p:nvPr/>
        </p:nvSpPr>
        <p:spPr>
          <a:xfrm>
            <a:off x="6263640" y="2423160"/>
            <a:ext cx="5349240" cy="621792"/>
          </a:xfrm>
          <a:prstGeom prst="roundRect">
            <a:avLst>
              <a:gd name="adj" fmla="val 14706"/>
            </a:avLst>
          </a:prstGeom>
          <a:solidFill>
            <a:srgbClr val="161E33"/>
          </a:solidFill>
          <a:ln w="15875">
            <a:solidFill>
              <a:srgbClr val="2C3A5C"/>
            </a:solidFill>
            <a:prstDash val="solid"/>
          </a:ln>
        </p:spPr>
      </p:sp>
      <p:sp>
        <p:nvSpPr>
          <p:cNvPr id="10" name="Text 7"/>
          <p:cNvSpPr/>
          <p:nvPr/>
        </p:nvSpPr>
        <p:spPr>
          <a:xfrm>
            <a:off x="6492240" y="2423160"/>
            <a:ext cx="566928" cy="621792"/>
          </a:xfrm>
          <a:prstGeom prst="rect">
            <a:avLst/>
          </a:prstGeom>
          <a:noFill/>
          <a:ln/>
        </p:spPr>
        <p:txBody>
          <a:bodyPr wrap="square" lIns="0" tIns="0" rIns="0" bIns="0" rtlCol="0" anchor="ctr"/>
          <a:lstStyle/>
          <a:p>
            <a:pPr indent="0" marL="0">
              <a:buNone/>
            </a:pPr>
            <a:r>
              <a:rPr lang="en-US" sz="1600" b="1" dirty="0">
                <a:solidFill>
                  <a:srgbClr val="FF4F87"/>
                </a:solidFill>
                <a:latin typeface="Cambria" pitchFamily="34" charset="0"/>
                <a:ea typeface="Cambria" pitchFamily="34" charset="-122"/>
                <a:cs typeface="Cambria" pitchFamily="34" charset="-120"/>
              </a:rPr>
              <a:t>02</a:t>
            </a:r>
            <a:endParaRPr lang="en-US" sz="1600" dirty="0"/>
          </a:p>
        </p:txBody>
      </p:sp>
      <p:sp>
        <p:nvSpPr>
          <p:cNvPr id="11" name="Text 8"/>
          <p:cNvSpPr/>
          <p:nvPr/>
        </p:nvSpPr>
        <p:spPr>
          <a:xfrm>
            <a:off x="7086600" y="2423160"/>
            <a:ext cx="4343400" cy="621792"/>
          </a:xfrm>
          <a:prstGeom prst="rect">
            <a:avLst/>
          </a:prstGeom>
          <a:noFill/>
          <a:ln/>
        </p:spPr>
        <p:txBody>
          <a:bodyPr wrap="square" lIns="0" tIns="0" rIns="0" bIns="0" rtlCol="0" anchor="ctr"/>
          <a:lstStyle/>
          <a:p>
            <a:pPr indent="0" marL="0">
              <a:buNone/>
            </a:pPr>
            <a:r>
              <a:rPr lang="en-US" sz="1300" dirty="0">
                <a:solidFill>
                  <a:srgbClr val="DCE3F0"/>
                </a:solidFill>
                <a:latin typeface="Calibri" pitchFamily="34" charset="0"/>
                <a:ea typeface="Calibri" pitchFamily="34" charset="-122"/>
                <a:cs typeface="Calibri" pitchFamily="34" charset="-120"/>
              </a:rPr>
              <a:t>We caught and honestly fixed the Meta no-revenue trap.</a:t>
            </a:r>
            <a:endParaRPr lang="en-US" sz="1300" dirty="0"/>
          </a:p>
        </p:txBody>
      </p:sp>
      <p:sp>
        <p:nvSpPr>
          <p:cNvPr id="12" name="Shape 9"/>
          <p:cNvSpPr/>
          <p:nvPr/>
        </p:nvSpPr>
        <p:spPr>
          <a:xfrm>
            <a:off x="6263640" y="3154680"/>
            <a:ext cx="5349240" cy="621792"/>
          </a:xfrm>
          <a:prstGeom prst="roundRect">
            <a:avLst>
              <a:gd name="adj" fmla="val 14706"/>
            </a:avLst>
          </a:prstGeom>
          <a:solidFill>
            <a:srgbClr val="161E33"/>
          </a:solidFill>
          <a:ln w="15875">
            <a:solidFill>
              <a:srgbClr val="2C3A5C"/>
            </a:solidFill>
            <a:prstDash val="solid"/>
          </a:ln>
        </p:spPr>
      </p:sp>
      <p:sp>
        <p:nvSpPr>
          <p:cNvPr id="13" name="Text 10"/>
          <p:cNvSpPr/>
          <p:nvPr/>
        </p:nvSpPr>
        <p:spPr>
          <a:xfrm>
            <a:off x="6492240" y="3154680"/>
            <a:ext cx="566928" cy="621792"/>
          </a:xfrm>
          <a:prstGeom prst="rect">
            <a:avLst/>
          </a:prstGeom>
          <a:noFill/>
          <a:ln/>
        </p:spPr>
        <p:txBody>
          <a:bodyPr wrap="square" lIns="0" tIns="0" rIns="0" bIns="0" rtlCol="0" anchor="ctr"/>
          <a:lstStyle/>
          <a:p>
            <a:pPr indent="0" marL="0">
              <a:buNone/>
            </a:pPr>
            <a:r>
              <a:rPr lang="en-US" sz="1600" b="1" dirty="0">
                <a:solidFill>
                  <a:srgbClr val="FFB224"/>
                </a:solidFill>
                <a:latin typeface="Cambria" pitchFamily="34" charset="0"/>
                <a:ea typeface="Cambria" pitchFamily="34" charset="-122"/>
                <a:cs typeface="Cambria" pitchFamily="34" charset="-120"/>
              </a:rPr>
              <a:t>03</a:t>
            </a:r>
            <a:endParaRPr lang="en-US" sz="1600" dirty="0"/>
          </a:p>
        </p:txBody>
      </p:sp>
      <p:sp>
        <p:nvSpPr>
          <p:cNvPr id="14" name="Text 11"/>
          <p:cNvSpPr/>
          <p:nvPr/>
        </p:nvSpPr>
        <p:spPr>
          <a:xfrm>
            <a:off x="7086600" y="3154680"/>
            <a:ext cx="4343400" cy="621792"/>
          </a:xfrm>
          <a:prstGeom prst="rect">
            <a:avLst/>
          </a:prstGeom>
          <a:noFill/>
          <a:ln/>
        </p:spPr>
        <p:txBody>
          <a:bodyPr wrap="square" lIns="0" tIns="0" rIns="0" bIns="0" rtlCol="0" anchor="ctr"/>
          <a:lstStyle/>
          <a:p>
            <a:pPr indent="0" marL="0">
              <a:buNone/>
            </a:pPr>
            <a:r>
              <a:rPr lang="en-US" sz="1300" dirty="0">
                <a:solidFill>
                  <a:srgbClr val="DCE3F0"/>
                </a:solidFill>
                <a:latin typeface="Calibri" pitchFamily="34" charset="0"/>
                <a:ea typeface="Calibri" pitchFamily="34" charset="-122"/>
                <a:cs typeface="Calibri" pitchFamily="34" charset="-120"/>
              </a:rPr>
              <a:t>About 8% error on total sales, with 89-94% coverage.</a:t>
            </a:r>
            <a:endParaRPr lang="en-US" sz="1300" dirty="0"/>
          </a:p>
        </p:txBody>
      </p:sp>
      <p:sp>
        <p:nvSpPr>
          <p:cNvPr id="15" name="Shape 12"/>
          <p:cNvSpPr/>
          <p:nvPr/>
        </p:nvSpPr>
        <p:spPr>
          <a:xfrm>
            <a:off x="6263640" y="3886200"/>
            <a:ext cx="5349240" cy="621792"/>
          </a:xfrm>
          <a:prstGeom prst="roundRect">
            <a:avLst>
              <a:gd name="adj" fmla="val 14706"/>
            </a:avLst>
          </a:prstGeom>
          <a:solidFill>
            <a:srgbClr val="161E33"/>
          </a:solidFill>
          <a:ln w="15875">
            <a:solidFill>
              <a:srgbClr val="2C3A5C"/>
            </a:solidFill>
            <a:prstDash val="solid"/>
          </a:ln>
        </p:spPr>
      </p:sp>
      <p:sp>
        <p:nvSpPr>
          <p:cNvPr id="16" name="Text 13"/>
          <p:cNvSpPr/>
          <p:nvPr/>
        </p:nvSpPr>
        <p:spPr>
          <a:xfrm>
            <a:off x="6492240" y="3886200"/>
            <a:ext cx="566928" cy="621792"/>
          </a:xfrm>
          <a:prstGeom prst="rect">
            <a:avLst/>
          </a:prstGeom>
          <a:noFill/>
          <a:ln/>
        </p:spPr>
        <p:txBody>
          <a:bodyPr wrap="square" lIns="0" tIns="0" rIns="0" bIns="0" rtlCol="0" anchor="ctr"/>
          <a:lstStyle/>
          <a:p>
            <a:pPr indent="0" marL="0">
              <a:buNone/>
            </a:pPr>
            <a:r>
              <a:rPr lang="en-US" sz="1600" b="1" dirty="0">
                <a:solidFill>
                  <a:srgbClr val="9B7BFF"/>
                </a:solidFill>
                <a:latin typeface="Cambria" pitchFamily="34" charset="0"/>
                <a:ea typeface="Cambria" pitchFamily="34" charset="-122"/>
                <a:cs typeface="Cambria" pitchFamily="34" charset="-120"/>
              </a:rPr>
              <a:t>04</a:t>
            </a:r>
            <a:endParaRPr lang="en-US" sz="1600" dirty="0"/>
          </a:p>
        </p:txBody>
      </p:sp>
      <p:sp>
        <p:nvSpPr>
          <p:cNvPr id="17" name="Text 14"/>
          <p:cNvSpPr/>
          <p:nvPr/>
        </p:nvSpPr>
        <p:spPr>
          <a:xfrm>
            <a:off x="7086600" y="3886200"/>
            <a:ext cx="4343400" cy="621792"/>
          </a:xfrm>
          <a:prstGeom prst="rect">
            <a:avLst/>
          </a:prstGeom>
          <a:noFill/>
          <a:ln/>
        </p:spPr>
        <p:txBody>
          <a:bodyPr wrap="square" lIns="0" tIns="0" rIns="0" bIns="0" rtlCol="0" anchor="ctr"/>
          <a:lstStyle/>
          <a:p>
            <a:pPr indent="0" marL="0">
              <a:buNone/>
            </a:pPr>
            <a:r>
              <a:rPr lang="en-US" sz="1300" dirty="0">
                <a:solidFill>
                  <a:srgbClr val="DCE3F0"/>
                </a:solidFill>
                <a:latin typeface="Calibri" pitchFamily="34" charset="0"/>
                <a:ea typeface="Calibri" pitchFamily="34" charset="-122"/>
                <a:cs typeface="Calibri" pitchFamily="34" charset="-120"/>
              </a:rPr>
              <a:t>It passes the strict offline test, where many projects fail.</a:t>
            </a:r>
            <a:endParaRPr lang="en-US" sz="1300" dirty="0"/>
          </a:p>
        </p:txBody>
      </p:sp>
      <p:sp>
        <p:nvSpPr>
          <p:cNvPr id="18" name="Shape 15"/>
          <p:cNvSpPr/>
          <p:nvPr/>
        </p:nvSpPr>
        <p:spPr>
          <a:xfrm>
            <a:off x="6263640" y="4617720"/>
            <a:ext cx="5349240" cy="621792"/>
          </a:xfrm>
          <a:prstGeom prst="roundRect">
            <a:avLst>
              <a:gd name="adj" fmla="val 14706"/>
            </a:avLst>
          </a:prstGeom>
          <a:solidFill>
            <a:srgbClr val="161E33"/>
          </a:solidFill>
          <a:ln w="15875">
            <a:solidFill>
              <a:srgbClr val="2C3A5C"/>
            </a:solidFill>
            <a:prstDash val="solid"/>
          </a:ln>
        </p:spPr>
      </p:sp>
      <p:sp>
        <p:nvSpPr>
          <p:cNvPr id="19" name="Text 16"/>
          <p:cNvSpPr/>
          <p:nvPr/>
        </p:nvSpPr>
        <p:spPr>
          <a:xfrm>
            <a:off x="6492240" y="4617720"/>
            <a:ext cx="566928" cy="621792"/>
          </a:xfrm>
          <a:prstGeom prst="rect">
            <a:avLst/>
          </a:prstGeom>
          <a:noFill/>
          <a:ln/>
        </p:spPr>
        <p:txBody>
          <a:bodyPr wrap="square" lIns="0" tIns="0" rIns="0" bIns="0" rtlCol="0" anchor="ctr"/>
          <a:lstStyle/>
          <a:p>
            <a:pPr indent="0" marL="0">
              <a:buNone/>
            </a:pPr>
            <a:r>
              <a:rPr lang="en-US" sz="1600" b="1" dirty="0">
                <a:solidFill>
                  <a:srgbClr val="3DD68C"/>
                </a:solidFill>
                <a:latin typeface="Cambria" pitchFamily="34" charset="0"/>
                <a:ea typeface="Cambria" pitchFamily="34" charset="-122"/>
                <a:cs typeface="Cambria" pitchFamily="34" charset="-120"/>
              </a:rPr>
              <a:t>05</a:t>
            </a:r>
            <a:endParaRPr lang="en-US" sz="1600" dirty="0"/>
          </a:p>
        </p:txBody>
      </p:sp>
      <p:sp>
        <p:nvSpPr>
          <p:cNvPr id="20" name="Text 17"/>
          <p:cNvSpPr/>
          <p:nvPr/>
        </p:nvSpPr>
        <p:spPr>
          <a:xfrm>
            <a:off x="7086600" y="4617720"/>
            <a:ext cx="4343400" cy="621792"/>
          </a:xfrm>
          <a:prstGeom prst="rect">
            <a:avLst/>
          </a:prstGeom>
          <a:noFill/>
          <a:ln/>
        </p:spPr>
        <p:txBody>
          <a:bodyPr wrap="square" lIns="0" tIns="0" rIns="0" bIns="0" rtlCol="0" anchor="ctr"/>
          <a:lstStyle/>
          <a:p>
            <a:pPr indent="0" marL="0">
              <a:buNone/>
            </a:pPr>
            <a:r>
              <a:rPr lang="en-US" sz="1300" dirty="0">
                <a:solidFill>
                  <a:srgbClr val="DCE3F0"/>
                </a:solidFill>
                <a:latin typeface="Calibri" pitchFamily="34" charset="0"/>
                <a:ea typeface="Calibri" pitchFamily="34" charset="-122"/>
                <a:cs typeface="Calibri" pitchFamily="34" charset="-120"/>
              </a:rPr>
              <a:t>Live budget simulation plus a grounded AI briefing.</a:t>
            </a:r>
            <a:endParaRPr lang="en-US" sz="1300" dirty="0"/>
          </a:p>
        </p:txBody>
      </p:sp>
      <p:sp>
        <p:nvSpPr>
          <p:cNvPr id="21" name="Text 18"/>
          <p:cNvSpPr/>
          <p:nvPr/>
        </p:nvSpPr>
        <p:spPr>
          <a:xfrm>
            <a:off x="594360" y="4956048"/>
            <a:ext cx="5394960" cy="457200"/>
          </a:xfrm>
          <a:prstGeom prst="rect">
            <a:avLst/>
          </a:prstGeom>
          <a:noFill/>
          <a:ln/>
        </p:spPr>
        <p:txBody>
          <a:bodyPr wrap="square" lIns="0" tIns="0" rIns="0" bIns="0" rtlCol="0" anchor="ctr"/>
          <a:lstStyle/>
          <a:p>
            <a:pPr indent="0" marL="0">
              <a:buNone/>
            </a:pPr>
            <a:r>
              <a:rPr lang="en-US" sz="1900" b="1" dirty="0">
                <a:solidFill>
                  <a:srgbClr val="F4F7FC"/>
                </a:solidFill>
                <a:latin typeface="Cambria" pitchFamily="34" charset="0"/>
                <a:ea typeface="Cambria" pitchFamily="34" charset="-122"/>
                <a:cs typeface="Cambria" pitchFamily="34" charset="-120"/>
              </a:rPr>
              <a:t>Thank you - happy to take questions.</a:t>
            </a:r>
            <a:endParaRPr lang="en-US" sz="1900" dirty="0"/>
          </a:p>
        </p:txBody>
      </p:sp>
      <p:sp>
        <p:nvSpPr>
          <p:cNvPr id="22" name="Shape 19"/>
          <p:cNvSpPr/>
          <p:nvPr/>
        </p:nvSpPr>
        <p:spPr>
          <a:xfrm>
            <a:off x="594360" y="5532120"/>
            <a:ext cx="11018520" cy="566928"/>
          </a:xfrm>
          <a:prstGeom prst="roundRect">
            <a:avLst>
              <a:gd name="adj" fmla="val 16129"/>
            </a:avLst>
          </a:prstGeom>
          <a:solidFill>
            <a:srgbClr val="161E33"/>
          </a:solidFill>
          <a:ln w="16510">
            <a:solidFill>
              <a:srgbClr val="FFB224"/>
            </a:solidFill>
            <a:prstDash val="solid"/>
          </a:ln>
        </p:spPr>
      </p:sp>
      <p:sp>
        <p:nvSpPr>
          <p:cNvPr id="23" name="Text 20"/>
          <p:cNvSpPr/>
          <p:nvPr/>
        </p:nvSpPr>
        <p:spPr>
          <a:xfrm>
            <a:off x="868680" y="5532120"/>
            <a:ext cx="10515600" cy="566928"/>
          </a:xfrm>
          <a:prstGeom prst="rect">
            <a:avLst/>
          </a:prstGeom>
          <a:noFill/>
          <a:ln/>
        </p:spPr>
        <p:txBody>
          <a:bodyPr wrap="square" lIns="0" tIns="0" rIns="0" bIns="0" rtlCol="0" anchor="ctr"/>
          <a:lstStyle/>
          <a:p>
            <a:pPr indent="0" marL="0">
              <a:buNone/>
            </a:pPr>
            <a:r>
              <a:rPr lang="en-US" sz="1400" b="1" dirty="0">
                <a:solidFill>
                  <a:srgbClr val="FFB224"/>
                </a:solidFill>
                <a:latin typeface="Calibri" pitchFamily="34" charset="0"/>
                <a:ea typeface="Calibri" pitchFamily="34" charset="-122"/>
                <a:cs typeface="Calibri" pitchFamily="34" charset="-120"/>
              </a:rPr>
              <a:t>Live demo: https://sigmoid-forecaster.streamlit.app/   |   Code: github.com/RAK2315/netElixir</a:t>
            </a:r>
            <a:endParaRPr lang="en-US" sz="1400" dirty="0"/>
          </a:p>
        </p:txBody>
      </p:sp>
      <p:sp>
        <p:nvSpPr>
          <p:cNvPr id="24" name="Text 21"/>
          <p:cNvSpPr/>
          <p:nvPr/>
        </p:nvSpPr>
        <p:spPr>
          <a:xfrm>
            <a:off x="11292840" y="6291072"/>
            <a:ext cx="365760" cy="274320"/>
          </a:xfrm>
          <a:prstGeom prst="rect">
            <a:avLst/>
          </a:prstGeom>
          <a:noFill/>
          <a:ln/>
        </p:spPr>
        <p:txBody>
          <a:bodyPr wrap="square" lIns="0" tIns="0" rIns="0" bIns="0" rtlCol="0" anchor="ctr"/>
          <a:lstStyle/>
          <a:p>
            <a:pPr algn="r" indent="0" marL="0">
              <a:buNone/>
            </a:pPr>
            <a:r>
              <a:rPr lang="en-US" sz="1050" dirty="0">
                <a:solidFill>
                  <a:srgbClr val="4A5570"/>
                </a:solidFill>
                <a:latin typeface="Calibri" pitchFamily="34" charset="0"/>
                <a:ea typeface="Calibri" pitchFamily="34" charset="-122"/>
                <a:cs typeface="Calibri" pitchFamily="34" charset="-120"/>
              </a:rPr>
              <a:t>17</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Probabilistic Revenue &amp; ROAS Forecasting</dc:title>
  <dc:subject>PptxGenJS Presentation</dc:subject>
  <dc:creator>Rehaan Ahmad Khan</dc:creator>
  <cp:lastModifiedBy>Rehaan Ahmad Khan</cp:lastModifiedBy>
  <cp:revision>1</cp:revision>
  <dcterms:created xsi:type="dcterms:W3CDTF">2026-08-04T09:12:45Z</dcterms:created>
  <dcterms:modified xsi:type="dcterms:W3CDTF">2026-08-04T09:12:45Z</dcterms:modified>
</cp:coreProperties>
</file>